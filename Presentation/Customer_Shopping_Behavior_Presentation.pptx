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charts/chart6.xml" ContentType="application/vnd.openxmlformats-officedocument.drawingml.chart+xml"/>
  <Override PartName="/ppt/notesSlides/notesSlide22.xml" ContentType="application/vnd.openxmlformats-officedocument.presentationml.notesSlide+xml"/>
  <Override PartName="/ppt/charts/chart7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F88506-46EC-482B-9CE3-E64AF6332279}" v="3" dt="2026-03-19T12:22:53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khawatsoumya2@gmail.com" userId="870cf11c5f67087a" providerId="LiveId" clId="{339D5A61-6469-4D78-BDA0-4175D12DC9FE}"/>
    <pc:docChg chg="undo redo custSel delSld modSld">
      <pc:chgData name="shekhawatsoumya2@gmail.com" userId="870cf11c5f67087a" providerId="LiveId" clId="{339D5A61-6469-4D78-BDA0-4175D12DC9FE}" dt="2026-03-19T12:24:29.448" v="78" actId="478"/>
      <pc:docMkLst>
        <pc:docMk/>
      </pc:docMkLst>
      <pc:sldChg chg="delSp mod">
        <pc:chgData name="shekhawatsoumya2@gmail.com" userId="870cf11c5f67087a" providerId="LiveId" clId="{339D5A61-6469-4D78-BDA0-4175D12DC9FE}" dt="2026-03-19T12:14:31.914" v="0" actId="478"/>
        <pc:sldMkLst>
          <pc:docMk/>
          <pc:sldMk cId="0" sldId="256"/>
        </pc:sldMkLst>
        <pc:spChg chg="del">
          <ac:chgData name="shekhawatsoumya2@gmail.com" userId="870cf11c5f67087a" providerId="LiveId" clId="{339D5A61-6469-4D78-BDA0-4175D12DC9FE}" dt="2026-03-19T12:14:31.914" v="0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4:31.914" v="0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4:31.914" v="0" actId="478"/>
          <ac:spMkLst>
            <pc:docMk/>
            <pc:sldMk cId="0" sldId="256"/>
            <ac:spMk id="11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2:15:02.590" v="15" actId="478"/>
        <pc:sldMkLst>
          <pc:docMk/>
          <pc:sldMk cId="0" sldId="257"/>
        </pc:sldMkLst>
        <pc:spChg chg="mod">
          <ac:chgData name="shekhawatsoumya2@gmail.com" userId="870cf11c5f67087a" providerId="LiveId" clId="{339D5A61-6469-4D78-BDA0-4175D12DC9FE}" dt="2026-03-19T12:14:52.126" v="14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5:02.590" v="15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5:02.590" v="15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14:46.432" v="5" actId="20577"/>
          <ac:spMkLst>
            <pc:docMk/>
            <pc:sldMk cId="0" sldId="257"/>
            <ac:spMk id="41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2:15:29.535" v="19" actId="1076"/>
        <pc:sldMkLst>
          <pc:docMk/>
          <pc:sldMk cId="0" sldId="258"/>
        </pc:sldMkLst>
        <pc:spChg chg="del">
          <ac:chgData name="shekhawatsoumya2@gmail.com" userId="870cf11c5f67087a" providerId="LiveId" clId="{339D5A61-6469-4D78-BDA0-4175D12DC9FE}" dt="2026-03-19T12:15:15.875" v="16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5:15.875" v="16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5:15.875" v="16" actId="478"/>
          <ac:spMkLst>
            <pc:docMk/>
            <pc:sldMk cId="0" sldId="258"/>
            <ac:spMk id="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15:29.535" v="19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15:29.535" v="19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15:29.535" v="19" actId="1076"/>
          <ac:spMkLst>
            <pc:docMk/>
            <pc:sldMk cId="0" sldId="258"/>
            <ac:spMk id="24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15:37.375" v="20" actId="478"/>
        <pc:sldMkLst>
          <pc:docMk/>
          <pc:sldMk cId="0" sldId="259"/>
        </pc:sldMkLst>
        <pc:spChg chg="del">
          <ac:chgData name="shekhawatsoumya2@gmail.com" userId="870cf11c5f67087a" providerId="LiveId" clId="{339D5A61-6469-4D78-BDA0-4175D12DC9FE}" dt="2026-03-19T12:15:37.375" v="20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5:37.375" v="20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5:37.375" v="20" actId="478"/>
          <ac:spMkLst>
            <pc:docMk/>
            <pc:sldMk cId="0" sldId="259"/>
            <ac:spMk id="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15:46.347" v="21" actId="478"/>
        <pc:sldMkLst>
          <pc:docMk/>
          <pc:sldMk cId="0" sldId="260"/>
        </pc:sldMkLst>
        <pc:spChg chg="del">
          <ac:chgData name="shekhawatsoumya2@gmail.com" userId="870cf11c5f67087a" providerId="LiveId" clId="{339D5A61-6469-4D78-BDA0-4175D12DC9FE}" dt="2026-03-19T12:15:46.347" v="21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5:46.347" v="21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5:46.347" v="21" actId="478"/>
          <ac:spMkLst>
            <pc:docMk/>
            <pc:sldMk cId="0" sldId="260"/>
            <ac:spMk id="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15:53.123" v="22" actId="478"/>
        <pc:sldMkLst>
          <pc:docMk/>
          <pc:sldMk cId="0" sldId="261"/>
        </pc:sldMkLst>
        <pc:spChg chg="del">
          <ac:chgData name="shekhawatsoumya2@gmail.com" userId="870cf11c5f67087a" providerId="LiveId" clId="{339D5A61-6469-4D78-BDA0-4175D12DC9FE}" dt="2026-03-19T12:15:53.123" v="22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5:53.123" v="22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5:53.123" v="22" actId="478"/>
          <ac:spMkLst>
            <pc:docMk/>
            <pc:sldMk cId="0" sldId="261"/>
            <ac:spMk id="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16:06.993" v="23" actId="478"/>
        <pc:sldMkLst>
          <pc:docMk/>
          <pc:sldMk cId="0" sldId="262"/>
        </pc:sldMkLst>
        <pc:spChg chg="del">
          <ac:chgData name="shekhawatsoumya2@gmail.com" userId="870cf11c5f67087a" providerId="LiveId" clId="{339D5A61-6469-4D78-BDA0-4175D12DC9FE}" dt="2026-03-19T12:16:06.993" v="23" actId="478"/>
          <ac:spMkLst>
            <pc:docMk/>
            <pc:sldMk cId="0" sldId="262"/>
            <ac:spMk id="4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16:17.014" v="24" actId="478"/>
        <pc:sldMkLst>
          <pc:docMk/>
          <pc:sldMk cId="0" sldId="263"/>
        </pc:sldMkLst>
        <pc:spChg chg="del">
          <ac:chgData name="shekhawatsoumya2@gmail.com" userId="870cf11c5f67087a" providerId="LiveId" clId="{339D5A61-6469-4D78-BDA0-4175D12DC9FE}" dt="2026-03-19T12:16:17.014" v="24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6:17.014" v="24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6:17.014" v="24" actId="478"/>
          <ac:spMkLst>
            <pc:docMk/>
            <pc:sldMk cId="0" sldId="263"/>
            <ac:spMk id="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16:33.055" v="25" actId="478"/>
        <pc:sldMkLst>
          <pc:docMk/>
          <pc:sldMk cId="0" sldId="264"/>
        </pc:sldMkLst>
        <pc:spChg chg="del">
          <ac:chgData name="shekhawatsoumya2@gmail.com" userId="870cf11c5f67087a" providerId="LiveId" clId="{339D5A61-6469-4D78-BDA0-4175D12DC9FE}" dt="2026-03-19T12:16:33.055" v="25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6:33.055" v="25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6:33.055" v="25" actId="478"/>
          <ac:spMkLst>
            <pc:docMk/>
            <pc:sldMk cId="0" sldId="264"/>
            <ac:spMk id="6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2:17:28.204" v="31" actId="1076"/>
        <pc:sldMkLst>
          <pc:docMk/>
          <pc:sldMk cId="0" sldId="265"/>
        </pc:sldMkLst>
        <pc:spChg chg="del">
          <ac:chgData name="shekhawatsoumya2@gmail.com" userId="870cf11c5f67087a" providerId="LiveId" clId="{339D5A61-6469-4D78-BDA0-4175D12DC9FE}" dt="2026-03-19T12:16:44.017" v="26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6:44.017" v="26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6:44.017" v="26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6:49.748" v="27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6:49.748" v="27" actId="478"/>
          <ac:spMkLst>
            <pc:docMk/>
            <pc:sldMk cId="0" sldId="265"/>
            <ac:spMk id="22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6:49.748" v="27" actId="478"/>
          <ac:spMkLst>
            <pc:docMk/>
            <pc:sldMk cId="0" sldId="265"/>
            <ac:spMk id="2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6:49.748" v="27" actId="478"/>
          <ac:spMkLst>
            <pc:docMk/>
            <pc:sldMk cId="0" sldId="265"/>
            <ac:spMk id="24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17:28.204" v="31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17:28.204" v="31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17:28.204" v="31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17:28.204" v="31" actId="1076"/>
          <ac:spMkLst>
            <pc:docMk/>
            <pc:sldMk cId="0" sldId="265"/>
            <ac:spMk id="28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7:08.348" v="28" actId="478"/>
          <ac:spMkLst>
            <pc:docMk/>
            <pc:sldMk cId="0" sldId="265"/>
            <ac:spMk id="29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7:08.348" v="28" actId="478"/>
          <ac:spMkLst>
            <pc:docMk/>
            <pc:sldMk cId="0" sldId="265"/>
            <ac:spMk id="30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7:08.348" v="28" actId="478"/>
          <ac:spMkLst>
            <pc:docMk/>
            <pc:sldMk cId="0" sldId="265"/>
            <ac:spMk id="31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7:08.348" v="28" actId="478"/>
          <ac:spMkLst>
            <pc:docMk/>
            <pc:sldMk cId="0" sldId="265"/>
            <ac:spMk id="32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17:34.589" v="32" actId="478"/>
        <pc:sldMkLst>
          <pc:docMk/>
          <pc:sldMk cId="0" sldId="266"/>
        </pc:sldMkLst>
        <pc:spChg chg="del">
          <ac:chgData name="shekhawatsoumya2@gmail.com" userId="870cf11c5f67087a" providerId="LiveId" clId="{339D5A61-6469-4D78-BDA0-4175D12DC9FE}" dt="2026-03-19T12:17:34.589" v="32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7:34.589" v="32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7:34.589" v="32" actId="478"/>
          <ac:spMkLst>
            <pc:docMk/>
            <pc:sldMk cId="0" sldId="266"/>
            <ac:spMk id="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17:46.455" v="33" actId="478"/>
        <pc:sldMkLst>
          <pc:docMk/>
          <pc:sldMk cId="0" sldId="267"/>
        </pc:sldMkLst>
        <pc:spChg chg="del">
          <ac:chgData name="shekhawatsoumya2@gmail.com" userId="870cf11c5f67087a" providerId="LiveId" clId="{339D5A61-6469-4D78-BDA0-4175D12DC9FE}" dt="2026-03-19T12:17:46.455" v="33" actId="478"/>
          <ac:spMkLst>
            <pc:docMk/>
            <pc:sldMk cId="0" sldId="267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7:46.455" v="33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7:46.455" v="33" actId="478"/>
          <ac:spMkLst>
            <pc:docMk/>
            <pc:sldMk cId="0" sldId="267"/>
            <ac:spMk id="6" creationId="{00000000-0000-0000-0000-000000000000}"/>
          </ac:spMkLst>
        </pc:spChg>
      </pc:sldChg>
      <pc:sldChg chg="addSp delSp modSp mod">
        <pc:chgData name="shekhawatsoumya2@gmail.com" userId="870cf11c5f67087a" providerId="LiveId" clId="{339D5A61-6469-4D78-BDA0-4175D12DC9FE}" dt="2026-03-19T12:18:26.394" v="38" actId="478"/>
        <pc:sldMkLst>
          <pc:docMk/>
          <pc:sldMk cId="0" sldId="268"/>
        </pc:sldMkLst>
        <pc:spChg chg="del">
          <ac:chgData name="shekhawatsoumya2@gmail.com" userId="870cf11c5f67087a" providerId="LiveId" clId="{339D5A61-6469-4D78-BDA0-4175D12DC9FE}" dt="2026-03-19T12:17:58.359" v="34" actId="478"/>
          <ac:spMkLst>
            <pc:docMk/>
            <pc:sldMk cId="0" sldId="268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7:58.359" v="34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7:58.359" v="34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26.394" v="38" actId="478"/>
          <ac:spMkLst>
            <pc:docMk/>
            <pc:sldMk cId="0" sldId="268"/>
            <ac:spMk id="21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26.394" v="38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26.394" v="38" actId="478"/>
          <ac:spMkLst>
            <pc:docMk/>
            <pc:sldMk cId="0" sldId="268"/>
            <ac:spMk id="2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26.394" v="38" actId="478"/>
          <ac:spMkLst>
            <pc:docMk/>
            <pc:sldMk cId="0" sldId="268"/>
            <ac:spMk id="2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26.394" v="38" actId="478"/>
          <ac:spMkLst>
            <pc:docMk/>
            <pc:sldMk cId="0" sldId="268"/>
            <ac:spMk id="2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26.394" v="38" actId="478"/>
          <ac:spMkLst>
            <pc:docMk/>
            <pc:sldMk cId="0" sldId="268"/>
            <ac:spMk id="26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26.394" v="38" actId="478"/>
          <ac:spMkLst>
            <pc:docMk/>
            <pc:sldMk cId="0" sldId="268"/>
            <ac:spMk id="27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07.425" v="36" actId="478"/>
          <ac:spMkLst>
            <pc:docMk/>
            <pc:sldMk cId="0" sldId="268"/>
            <ac:spMk id="28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13.810" v="37" actId="478"/>
          <ac:spMkLst>
            <pc:docMk/>
            <pc:sldMk cId="0" sldId="268"/>
            <ac:spMk id="29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13.810" v="37" actId="478"/>
          <ac:spMkLst>
            <pc:docMk/>
            <pc:sldMk cId="0" sldId="268"/>
            <ac:spMk id="30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13.810" v="37" actId="478"/>
          <ac:spMkLst>
            <pc:docMk/>
            <pc:sldMk cId="0" sldId="268"/>
            <ac:spMk id="31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13.810" v="37" actId="478"/>
          <ac:spMkLst>
            <pc:docMk/>
            <pc:sldMk cId="0" sldId="268"/>
            <ac:spMk id="32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13.810" v="37" actId="478"/>
          <ac:spMkLst>
            <pc:docMk/>
            <pc:sldMk cId="0" sldId="268"/>
            <ac:spMk id="3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13.810" v="37" actId="478"/>
          <ac:spMkLst>
            <pc:docMk/>
            <pc:sldMk cId="0" sldId="268"/>
            <ac:spMk id="34" creationId="{00000000-0000-0000-0000-000000000000}"/>
          </ac:spMkLst>
        </pc:spChg>
        <pc:spChg chg="add del mod">
          <ac:chgData name="shekhawatsoumya2@gmail.com" userId="870cf11c5f67087a" providerId="LiveId" clId="{339D5A61-6469-4D78-BDA0-4175D12DC9FE}" dt="2026-03-19T12:18:07.425" v="36" actId="478"/>
          <ac:spMkLst>
            <pc:docMk/>
            <pc:sldMk cId="0" sldId="268"/>
            <ac:spMk id="35" creationId="{5FD3A386-0153-836A-B2A0-9BB214E985B3}"/>
          </ac:spMkLst>
        </pc:spChg>
        <pc:spChg chg="add del mod">
          <ac:chgData name="shekhawatsoumya2@gmail.com" userId="870cf11c5f67087a" providerId="LiveId" clId="{339D5A61-6469-4D78-BDA0-4175D12DC9FE}" dt="2026-03-19T12:18:07.425" v="36" actId="478"/>
          <ac:spMkLst>
            <pc:docMk/>
            <pc:sldMk cId="0" sldId="268"/>
            <ac:spMk id="36" creationId="{7AF45E4E-6732-9363-26F4-BF57877E1271}"/>
          </ac:spMkLst>
        </pc:spChg>
        <pc:spChg chg="add del mod">
          <ac:chgData name="shekhawatsoumya2@gmail.com" userId="870cf11c5f67087a" providerId="LiveId" clId="{339D5A61-6469-4D78-BDA0-4175D12DC9FE}" dt="2026-03-19T12:18:07.425" v="36" actId="478"/>
          <ac:spMkLst>
            <pc:docMk/>
            <pc:sldMk cId="0" sldId="268"/>
            <ac:spMk id="37" creationId="{EF7B0573-61D0-3E99-5EAD-69405D4710DF}"/>
          </ac:spMkLst>
        </pc:spChg>
        <pc:spChg chg="add del mod">
          <ac:chgData name="shekhawatsoumya2@gmail.com" userId="870cf11c5f67087a" providerId="LiveId" clId="{339D5A61-6469-4D78-BDA0-4175D12DC9FE}" dt="2026-03-19T12:18:07.425" v="36" actId="478"/>
          <ac:spMkLst>
            <pc:docMk/>
            <pc:sldMk cId="0" sldId="268"/>
            <ac:spMk id="38" creationId="{CC6E9FDD-43AD-CC32-C0AA-70E0F0C58C1A}"/>
          </ac:spMkLst>
        </pc:spChg>
        <pc:spChg chg="add del mod">
          <ac:chgData name="shekhawatsoumya2@gmail.com" userId="870cf11c5f67087a" providerId="LiveId" clId="{339D5A61-6469-4D78-BDA0-4175D12DC9FE}" dt="2026-03-19T12:18:07.425" v="36" actId="478"/>
          <ac:spMkLst>
            <pc:docMk/>
            <pc:sldMk cId="0" sldId="268"/>
            <ac:spMk id="39" creationId="{96092AED-7DED-6B90-ACB6-3A39E24E68C5}"/>
          </ac:spMkLst>
        </pc:spChg>
      </pc:sldChg>
      <pc:sldChg chg="delSp mod">
        <pc:chgData name="shekhawatsoumya2@gmail.com" userId="870cf11c5f67087a" providerId="LiveId" clId="{339D5A61-6469-4D78-BDA0-4175D12DC9FE}" dt="2026-03-19T12:18:33.921" v="39" actId="478"/>
        <pc:sldMkLst>
          <pc:docMk/>
          <pc:sldMk cId="0" sldId="269"/>
        </pc:sldMkLst>
        <pc:spChg chg="del">
          <ac:chgData name="shekhawatsoumya2@gmail.com" userId="870cf11c5f67087a" providerId="LiveId" clId="{339D5A61-6469-4D78-BDA0-4175D12DC9FE}" dt="2026-03-19T12:18:33.921" v="39" actId="478"/>
          <ac:spMkLst>
            <pc:docMk/>
            <pc:sldMk cId="0" sldId="269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33.921" v="39" actId="478"/>
          <ac:spMkLst>
            <pc:docMk/>
            <pc:sldMk cId="0" sldId="269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33.921" v="39" actId="478"/>
          <ac:spMkLst>
            <pc:docMk/>
            <pc:sldMk cId="0" sldId="269"/>
            <ac:spMk id="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18:42.796" v="40" actId="478"/>
        <pc:sldMkLst>
          <pc:docMk/>
          <pc:sldMk cId="0" sldId="270"/>
        </pc:sldMkLst>
        <pc:spChg chg="del">
          <ac:chgData name="shekhawatsoumya2@gmail.com" userId="870cf11c5f67087a" providerId="LiveId" clId="{339D5A61-6469-4D78-BDA0-4175D12DC9FE}" dt="2026-03-19T12:18:42.796" v="40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42.796" v="40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42.796" v="40" actId="478"/>
          <ac:spMkLst>
            <pc:docMk/>
            <pc:sldMk cId="0" sldId="270"/>
            <ac:spMk id="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18:49.003" v="41" actId="478"/>
        <pc:sldMkLst>
          <pc:docMk/>
          <pc:sldMk cId="0" sldId="271"/>
        </pc:sldMkLst>
        <pc:spChg chg="del">
          <ac:chgData name="shekhawatsoumya2@gmail.com" userId="870cf11c5f67087a" providerId="LiveId" clId="{339D5A61-6469-4D78-BDA0-4175D12DC9FE}" dt="2026-03-19T12:18:49.003" v="41" actId="478"/>
          <ac:spMkLst>
            <pc:docMk/>
            <pc:sldMk cId="0" sldId="271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49.003" v="41" actId="478"/>
          <ac:spMkLst>
            <pc:docMk/>
            <pc:sldMk cId="0" sldId="271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49.003" v="41" actId="478"/>
          <ac:spMkLst>
            <pc:docMk/>
            <pc:sldMk cId="0" sldId="271"/>
            <ac:spMk id="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18:57.458" v="42" actId="478"/>
        <pc:sldMkLst>
          <pc:docMk/>
          <pc:sldMk cId="0" sldId="272"/>
        </pc:sldMkLst>
        <pc:spChg chg="del">
          <ac:chgData name="shekhawatsoumya2@gmail.com" userId="870cf11c5f67087a" providerId="LiveId" clId="{339D5A61-6469-4D78-BDA0-4175D12DC9FE}" dt="2026-03-19T12:18:57.458" v="42" actId="478"/>
          <ac:spMkLst>
            <pc:docMk/>
            <pc:sldMk cId="0" sldId="272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57.458" v="42" actId="478"/>
          <ac:spMkLst>
            <pc:docMk/>
            <pc:sldMk cId="0" sldId="272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8:57.458" v="42" actId="478"/>
          <ac:spMkLst>
            <pc:docMk/>
            <pc:sldMk cId="0" sldId="272"/>
            <ac:spMk id="6" creationId="{00000000-0000-0000-0000-000000000000}"/>
          </ac:spMkLst>
        </pc:spChg>
      </pc:sldChg>
      <pc:sldChg chg="delSp del mod">
        <pc:chgData name="shekhawatsoumya2@gmail.com" userId="870cf11c5f67087a" providerId="LiveId" clId="{339D5A61-6469-4D78-BDA0-4175D12DC9FE}" dt="2026-03-19T12:19:23.830" v="44" actId="2696"/>
        <pc:sldMkLst>
          <pc:docMk/>
          <pc:sldMk cId="0" sldId="273"/>
        </pc:sldMkLst>
        <pc:spChg chg="del">
          <ac:chgData name="shekhawatsoumya2@gmail.com" userId="870cf11c5f67087a" providerId="LiveId" clId="{339D5A61-6469-4D78-BDA0-4175D12DC9FE}" dt="2026-03-19T12:19:03.493" v="43" actId="478"/>
          <ac:spMkLst>
            <pc:docMk/>
            <pc:sldMk cId="0" sldId="273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9:03.493" v="43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9:03.493" v="43" actId="478"/>
          <ac:spMkLst>
            <pc:docMk/>
            <pc:sldMk cId="0" sldId="273"/>
            <ac:spMk id="6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2:19:48.043" v="48" actId="1076"/>
        <pc:sldMkLst>
          <pc:docMk/>
          <pc:sldMk cId="0" sldId="274"/>
        </pc:sldMkLst>
        <pc:spChg chg="del">
          <ac:chgData name="shekhawatsoumya2@gmail.com" userId="870cf11c5f67087a" providerId="LiveId" clId="{339D5A61-6469-4D78-BDA0-4175D12DC9FE}" dt="2026-03-19T12:19:30.361" v="45" actId="478"/>
          <ac:spMkLst>
            <pc:docMk/>
            <pc:sldMk cId="0" sldId="274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9:30.361" v="45" actId="478"/>
          <ac:spMkLst>
            <pc:docMk/>
            <pc:sldMk cId="0" sldId="274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9:30.361" v="45" actId="478"/>
          <ac:spMkLst>
            <pc:docMk/>
            <pc:sldMk cId="0" sldId="274"/>
            <ac:spMk id="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19:40.123" v="47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19:48.043" v="48" actId="1076"/>
          <ac:spMkLst>
            <pc:docMk/>
            <pc:sldMk cId="0" sldId="274"/>
            <ac:spMk id="18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2:20:04.001" v="50" actId="1076"/>
        <pc:sldMkLst>
          <pc:docMk/>
          <pc:sldMk cId="0" sldId="275"/>
        </pc:sldMkLst>
        <pc:spChg chg="del">
          <ac:chgData name="shekhawatsoumya2@gmail.com" userId="870cf11c5f67087a" providerId="LiveId" clId="{339D5A61-6469-4D78-BDA0-4175D12DC9FE}" dt="2026-03-19T12:19:56.077" v="49" actId="478"/>
          <ac:spMkLst>
            <pc:docMk/>
            <pc:sldMk cId="0" sldId="275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9:56.077" v="49" actId="478"/>
          <ac:spMkLst>
            <pc:docMk/>
            <pc:sldMk cId="0" sldId="275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19:56.077" v="49" actId="478"/>
          <ac:spMkLst>
            <pc:docMk/>
            <pc:sldMk cId="0" sldId="275"/>
            <ac:spMk id="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0:04.001" v="50" actId="1076"/>
          <ac:spMkLst>
            <pc:docMk/>
            <pc:sldMk cId="0" sldId="275"/>
            <ac:spMk id="19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2:20:15.219" v="52" actId="1076"/>
        <pc:sldMkLst>
          <pc:docMk/>
          <pc:sldMk cId="0" sldId="276"/>
        </pc:sldMkLst>
        <pc:spChg chg="del">
          <ac:chgData name="shekhawatsoumya2@gmail.com" userId="870cf11c5f67087a" providerId="LiveId" clId="{339D5A61-6469-4D78-BDA0-4175D12DC9FE}" dt="2026-03-19T12:20:09.772" v="51" actId="478"/>
          <ac:spMkLst>
            <pc:docMk/>
            <pc:sldMk cId="0" sldId="276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0:09.772" v="51" actId="478"/>
          <ac:spMkLst>
            <pc:docMk/>
            <pc:sldMk cId="0" sldId="276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0:09.772" v="51" actId="478"/>
          <ac:spMkLst>
            <pc:docMk/>
            <pc:sldMk cId="0" sldId="276"/>
            <ac:spMk id="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0:15.219" v="52" actId="1076"/>
          <ac:spMkLst>
            <pc:docMk/>
            <pc:sldMk cId="0" sldId="276"/>
            <ac:spMk id="19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20:26.463" v="54" actId="478"/>
        <pc:sldMkLst>
          <pc:docMk/>
          <pc:sldMk cId="0" sldId="277"/>
        </pc:sldMkLst>
        <pc:spChg chg="del">
          <ac:chgData name="shekhawatsoumya2@gmail.com" userId="870cf11c5f67087a" providerId="LiveId" clId="{339D5A61-6469-4D78-BDA0-4175D12DC9FE}" dt="2026-03-19T12:20:26.463" v="54" actId="478"/>
          <ac:spMkLst>
            <pc:docMk/>
            <pc:sldMk cId="0" sldId="277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0:24.041" v="53" actId="478"/>
          <ac:spMkLst>
            <pc:docMk/>
            <pc:sldMk cId="0" sldId="277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0:24.041" v="53" actId="478"/>
          <ac:spMkLst>
            <pc:docMk/>
            <pc:sldMk cId="0" sldId="277"/>
            <ac:spMk id="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20:38.907" v="55" actId="478"/>
        <pc:sldMkLst>
          <pc:docMk/>
          <pc:sldMk cId="0" sldId="278"/>
        </pc:sldMkLst>
        <pc:spChg chg="del">
          <ac:chgData name="shekhawatsoumya2@gmail.com" userId="870cf11c5f67087a" providerId="LiveId" clId="{339D5A61-6469-4D78-BDA0-4175D12DC9FE}" dt="2026-03-19T12:20:38.907" v="55" actId="478"/>
          <ac:spMkLst>
            <pc:docMk/>
            <pc:sldMk cId="0" sldId="278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0:38.907" v="55" actId="478"/>
          <ac:spMkLst>
            <pc:docMk/>
            <pc:sldMk cId="0" sldId="278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0:38.907" v="55" actId="478"/>
          <ac:spMkLst>
            <pc:docMk/>
            <pc:sldMk cId="0" sldId="278"/>
            <ac:spMk id="6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2:21:04.289" v="59" actId="1076"/>
        <pc:sldMkLst>
          <pc:docMk/>
          <pc:sldMk cId="0" sldId="279"/>
        </pc:sldMkLst>
        <pc:spChg chg="del">
          <ac:chgData name="shekhawatsoumya2@gmail.com" userId="870cf11c5f67087a" providerId="LiveId" clId="{339D5A61-6469-4D78-BDA0-4175D12DC9FE}" dt="2026-03-19T12:20:52.169" v="56" actId="478"/>
          <ac:spMkLst>
            <pc:docMk/>
            <pc:sldMk cId="0" sldId="279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0:52.169" v="56" actId="478"/>
          <ac:spMkLst>
            <pc:docMk/>
            <pc:sldMk cId="0" sldId="279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0:52.169" v="56" actId="478"/>
          <ac:spMkLst>
            <pc:docMk/>
            <pc:sldMk cId="0" sldId="279"/>
            <ac:spMk id="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1:04.289" v="59" actId="1076"/>
          <ac:spMkLst>
            <pc:docMk/>
            <pc:sldMk cId="0" sldId="279"/>
            <ac:spMk id="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1:04.289" v="59" actId="1076"/>
          <ac:spMkLst>
            <pc:docMk/>
            <pc:sldMk cId="0" sldId="279"/>
            <ac:spMk id="9" creationId="{00000000-0000-0000-0000-000000000000}"/>
          </ac:spMkLst>
        </pc:spChg>
      </pc:sldChg>
      <pc:sldChg chg="addSp delSp modSp mod">
        <pc:chgData name="shekhawatsoumya2@gmail.com" userId="870cf11c5f67087a" providerId="LiveId" clId="{339D5A61-6469-4D78-BDA0-4175D12DC9FE}" dt="2026-03-19T12:22:30.815" v="65" actId="1076"/>
        <pc:sldMkLst>
          <pc:docMk/>
          <pc:sldMk cId="0" sldId="280"/>
        </pc:sldMkLst>
        <pc:spChg chg="add del">
          <ac:chgData name="shekhawatsoumya2@gmail.com" userId="870cf11c5f67087a" providerId="LiveId" clId="{339D5A61-6469-4D78-BDA0-4175D12DC9FE}" dt="2026-03-19T12:21:58.393" v="64" actId="478"/>
          <ac:spMkLst>
            <pc:docMk/>
            <pc:sldMk cId="0" sldId="280"/>
            <ac:spMk id="4" creationId="{00000000-0000-0000-0000-000000000000}"/>
          </ac:spMkLst>
        </pc:spChg>
        <pc:spChg chg="add del">
          <ac:chgData name="shekhawatsoumya2@gmail.com" userId="870cf11c5f67087a" providerId="LiveId" clId="{339D5A61-6469-4D78-BDA0-4175D12DC9FE}" dt="2026-03-19T12:21:58.393" v="64" actId="478"/>
          <ac:spMkLst>
            <pc:docMk/>
            <pc:sldMk cId="0" sldId="280"/>
            <ac:spMk id="5" creationId="{00000000-0000-0000-0000-000000000000}"/>
          </ac:spMkLst>
        </pc:spChg>
        <pc:spChg chg="add del">
          <ac:chgData name="shekhawatsoumya2@gmail.com" userId="870cf11c5f67087a" providerId="LiveId" clId="{339D5A61-6469-4D78-BDA0-4175D12DC9FE}" dt="2026-03-19T12:21:58.393" v="64" actId="478"/>
          <ac:spMkLst>
            <pc:docMk/>
            <pc:sldMk cId="0" sldId="280"/>
            <ac:spMk id="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2:30.815" v="65" actId="1076"/>
          <ac:spMkLst>
            <pc:docMk/>
            <pc:sldMk cId="0" sldId="280"/>
            <ac:spMk id="14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2:30.815" v="65" actId="1076"/>
          <ac:spMkLst>
            <pc:docMk/>
            <pc:sldMk cId="0" sldId="280"/>
            <ac:spMk id="1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2:30.815" v="65" actId="1076"/>
          <ac:spMkLst>
            <pc:docMk/>
            <pc:sldMk cId="0" sldId="280"/>
            <ac:spMk id="1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2:30.815" v="65" actId="1076"/>
          <ac:spMkLst>
            <pc:docMk/>
            <pc:sldMk cId="0" sldId="280"/>
            <ac:spMk id="1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2:30.815" v="65" actId="1076"/>
          <ac:spMkLst>
            <pc:docMk/>
            <pc:sldMk cId="0" sldId="280"/>
            <ac:spMk id="21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2:30.815" v="65" actId="1076"/>
          <ac:spMkLst>
            <pc:docMk/>
            <pc:sldMk cId="0" sldId="280"/>
            <ac:spMk id="22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2:30.815" v="65" actId="1076"/>
          <ac:spMkLst>
            <pc:docMk/>
            <pc:sldMk cId="0" sldId="280"/>
            <ac:spMk id="24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2:30.815" v="65" actId="1076"/>
          <ac:spMkLst>
            <pc:docMk/>
            <pc:sldMk cId="0" sldId="280"/>
            <ac:spMk id="25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2:30.815" v="65" actId="1076"/>
          <ac:spMkLst>
            <pc:docMk/>
            <pc:sldMk cId="0" sldId="280"/>
            <ac:spMk id="2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2:30.815" v="65" actId="1076"/>
          <ac:spMkLst>
            <pc:docMk/>
            <pc:sldMk cId="0" sldId="280"/>
            <ac:spMk id="29" creationId="{00000000-0000-0000-0000-000000000000}"/>
          </ac:spMkLst>
        </pc:spChg>
      </pc:sldChg>
      <pc:sldChg chg="addSp delSp modSp mod">
        <pc:chgData name="shekhawatsoumya2@gmail.com" userId="870cf11c5f67087a" providerId="LiveId" clId="{339D5A61-6469-4D78-BDA0-4175D12DC9FE}" dt="2026-03-19T12:23:37.768" v="73" actId="1076"/>
        <pc:sldMkLst>
          <pc:docMk/>
          <pc:sldMk cId="0" sldId="281"/>
        </pc:sldMkLst>
        <pc:spChg chg="del">
          <ac:chgData name="shekhawatsoumya2@gmail.com" userId="870cf11c5f67087a" providerId="LiveId" clId="{339D5A61-6469-4D78-BDA0-4175D12DC9FE}" dt="2026-03-19T12:23:13.238" v="72" actId="478"/>
          <ac:spMkLst>
            <pc:docMk/>
            <pc:sldMk cId="0" sldId="281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3:13.238" v="72" actId="478"/>
          <ac:spMkLst>
            <pc:docMk/>
            <pc:sldMk cId="0" sldId="281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3:13.238" v="72" actId="478"/>
          <ac:spMkLst>
            <pc:docMk/>
            <pc:sldMk cId="0" sldId="281"/>
            <ac:spMk id="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3:37.768" v="73" actId="1076"/>
          <ac:spMkLst>
            <pc:docMk/>
            <pc:sldMk cId="0" sldId="281"/>
            <ac:spMk id="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3:37.768" v="73" actId="1076"/>
          <ac:spMkLst>
            <pc:docMk/>
            <pc:sldMk cId="0" sldId="281"/>
            <ac:spMk id="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3:37.768" v="73" actId="1076"/>
          <ac:spMkLst>
            <pc:docMk/>
            <pc:sldMk cId="0" sldId="281"/>
            <ac:spMk id="10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3:37.768" v="73" actId="1076"/>
          <ac:spMkLst>
            <pc:docMk/>
            <pc:sldMk cId="0" sldId="281"/>
            <ac:spMk id="11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3:37.768" v="73" actId="1076"/>
          <ac:spMkLst>
            <pc:docMk/>
            <pc:sldMk cId="0" sldId="281"/>
            <ac:spMk id="12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3:37.768" v="73" actId="1076"/>
          <ac:spMkLst>
            <pc:docMk/>
            <pc:sldMk cId="0" sldId="281"/>
            <ac:spMk id="13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3:37.768" v="73" actId="1076"/>
          <ac:spMkLst>
            <pc:docMk/>
            <pc:sldMk cId="0" sldId="281"/>
            <ac:spMk id="14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3:37.768" v="73" actId="1076"/>
          <ac:spMkLst>
            <pc:docMk/>
            <pc:sldMk cId="0" sldId="281"/>
            <ac:spMk id="15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3:37.768" v="73" actId="1076"/>
          <ac:spMkLst>
            <pc:docMk/>
            <pc:sldMk cId="0" sldId="281"/>
            <ac:spMk id="1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23:37.768" v="73" actId="1076"/>
          <ac:spMkLst>
            <pc:docMk/>
            <pc:sldMk cId="0" sldId="281"/>
            <ac:spMk id="19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2:47.569" v="67" actId="478"/>
          <ac:spMkLst>
            <pc:docMk/>
            <pc:sldMk cId="0" sldId="281"/>
            <ac:spMk id="20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3:13.238" v="72" actId="478"/>
          <ac:spMkLst>
            <pc:docMk/>
            <pc:sldMk cId="0" sldId="281"/>
            <ac:spMk id="21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3:13.238" v="72" actId="478"/>
          <ac:spMkLst>
            <pc:docMk/>
            <pc:sldMk cId="0" sldId="281"/>
            <ac:spMk id="22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3:13.238" v="72" actId="478"/>
          <ac:spMkLst>
            <pc:docMk/>
            <pc:sldMk cId="0" sldId="281"/>
            <ac:spMk id="2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3:13.238" v="72" actId="478"/>
          <ac:spMkLst>
            <pc:docMk/>
            <pc:sldMk cId="0" sldId="281"/>
            <ac:spMk id="2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3:13.238" v="72" actId="478"/>
          <ac:spMkLst>
            <pc:docMk/>
            <pc:sldMk cId="0" sldId="281"/>
            <ac:spMk id="2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3:13.238" v="72" actId="478"/>
          <ac:spMkLst>
            <pc:docMk/>
            <pc:sldMk cId="0" sldId="281"/>
            <ac:spMk id="26" creationId="{00000000-0000-0000-0000-000000000000}"/>
          </ac:spMkLst>
        </pc:spChg>
        <pc:spChg chg="add mod">
          <ac:chgData name="shekhawatsoumya2@gmail.com" userId="870cf11c5f67087a" providerId="LiveId" clId="{339D5A61-6469-4D78-BDA0-4175D12DC9FE}" dt="2026-03-19T12:22:53.522" v="71" actId="571"/>
          <ac:spMkLst>
            <pc:docMk/>
            <pc:sldMk cId="0" sldId="281"/>
            <ac:spMk id="27" creationId="{28076B88-6080-A0CB-6506-DE7CEAB77293}"/>
          </ac:spMkLst>
        </pc:spChg>
        <pc:spChg chg="add mod">
          <ac:chgData name="shekhawatsoumya2@gmail.com" userId="870cf11c5f67087a" providerId="LiveId" clId="{339D5A61-6469-4D78-BDA0-4175D12DC9FE}" dt="2026-03-19T12:22:53.522" v="71" actId="571"/>
          <ac:spMkLst>
            <pc:docMk/>
            <pc:sldMk cId="0" sldId="281"/>
            <ac:spMk id="28" creationId="{FDE9614C-B32A-96A6-885B-B5B065ACE853}"/>
          </ac:spMkLst>
        </pc:spChg>
        <pc:spChg chg="add mod">
          <ac:chgData name="shekhawatsoumya2@gmail.com" userId="870cf11c5f67087a" providerId="LiveId" clId="{339D5A61-6469-4D78-BDA0-4175D12DC9FE}" dt="2026-03-19T12:22:53.522" v="71" actId="571"/>
          <ac:spMkLst>
            <pc:docMk/>
            <pc:sldMk cId="0" sldId="281"/>
            <ac:spMk id="29" creationId="{F55A472B-DDB2-4397-0E4D-3207F66FE9E0}"/>
          </ac:spMkLst>
        </pc:spChg>
        <pc:picChg chg="del">
          <ac:chgData name="shekhawatsoumya2@gmail.com" userId="870cf11c5f67087a" providerId="LiveId" clId="{339D5A61-6469-4D78-BDA0-4175D12DC9FE}" dt="2026-03-19T12:22:45.563" v="66" actId="478"/>
          <ac:picMkLst>
            <pc:docMk/>
            <pc:sldMk cId="0" sldId="281"/>
            <ac:picMk id="7" creationId="{00000000-0000-0000-0000-000000000000}"/>
          </ac:picMkLst>
        </pc:picChg>
      </pc:sldChg>
      <pc:sldChg chg="delSp mod">
        <pc:chgData name="shekhawatsoumya2@gmail.com" userId="870cf11c5f67087a" providerId="LiveId" clId="{339D5A61-6469-4D78-BDA0-4175D12DC9FE}" dt="2026-03-19T12:23:45.409" v="74" actId="478"/>
        <pc:sldMkLst>
          <pc:docMk/>
          <pc:sldMk cId="0" sldId="282"/>
        </pc:sldMkLst>
        <pc:spChg chg="del">
          <ac:chgData name="shekhawatsoumya2@gmail.com" userId="870cf11c5f67087a" providerId="LiveId" clId="{339D5A61-6469-4D78-BDA0-4175D12DC9FE}" dt="2026-03-19T12:23:45.409" v="74" actId="478"/>
          <ac:spMkLst>
            <pc:docMk/>
            <pc:sldMk cId="0" sldId="282"/>
            <ac:spMk id="2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3:45.409" v="74" actId="478"/>
          <ac:spMkLst>
            <pc:docMk/>
            <pc:sldMk cId="0" sldId="282"/>
            <ac:spMk id="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3:45.409" v="74" actId="478"/>
          <ac:spMkLst>
            <pc:docMk/>
            <pc:sldMk cId="0" sldId="282"/>
            <ac:spMk id="4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24:01.289" v="75" actId="478"/>
        <pc:sldMkLst>
          <pc:docMk/>
          <pc:sldMk cId="0" sldId="283"/>
        </pc:sldMkLst>
        <pc:spChg chg="del">
          <ac:chgData name="shekhawatsoumya2@gmail.com" userId="870cf11c5f67087a" providerId="LiveId" clId="{339D5A61-6469-4D78-BDA0-4175D12DC9FE}" dt="2026-03-19T12:24:01.289" v="75" actId="478"/>
          <ac:spMkLst>
            <pc:docMk/>
            <pc:sldMk cId="0" sldId="283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4:01.289" v="75" actId="478"/>
          <ac:spMkLst>
            <pc:docMk/>
            <pc:sldMk cId="0" sldId="283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4:01.289" v="75" actId="478"/>
          <ac:spMkLst>
            <pc:docMk/>
            <pc:sldMk cId="0" sldId="283"/>
            <ac:spMk id="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24:20.750" v="77" actId="478"/>
        <pc:sldMkLst>
          <pc:docMk/>
          <pc:sldMk cId="0" sldId="284"/>
        </pc:sldMkLst>
        <pc:spChg chg="del">
          <ac:chgData name="shekhawatsoumya2@gmail.com" userId="870cf11c5f67087a" providerId="LiveId" clId="{339D5A61-6469-4D78-BDA0-4175D12DC9FE}" dt="2026-03-19T12:24:15.025" v="76" actId="478"/>
          <ac:spMkLst>
            <pc:docMk/>
            <pc:sldMk cId="0" sldId="284"/>
            <ac:spMk id="2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4:15.025" v="76" actId="478"/>
          <ac:spMkLst>
            <pc:docMk/>
            <pc:sldMk cId="0" sldId="284"/>
            <ac:spMk id="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4:15.025" v="76" actId="478"/>
          <ac:spMkLst>
            <pc:docMk/>
            <pc:sldMk cId="0" sldId="284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4:15.025" v="76" actId="478"/>
          <ac:spMkLst>
            <pc:docMk/>
            <pc:sldMk cId="0" sldId="284"/>
            <ac:spMk id="1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4:20.750" v="77" actId="478"/>
          <ac:spMkLst>
            <pc:docMk/>
            <pc:sldMk cId="0" sldId="284"/>
            <ac:spMk id="1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4:15.025" v="76" actId="478"/>
          <ac:spMkLst>
            <pc:docMk/>
            <pc:sldMk cId="0" sldId="284"/>
            <ac:spMk id="15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24:29.448" v="78" actId="478"/>
        <pc:sldMkLst>
          <pc:docMk/>
          <pc:sldMk cId="0" sldId="285"/>
        </pc:sldMkLst>
        <pc:spChg chg="del">
          <ac:chgData name="shekhawatsoumya2@gmail.com" userId="870cf11c5f67087a" providerId="LiveId" clId="{339D5A61-6469-4D78-BDA0-4175D12DC9FE}" dt="2026-03-19T12:24:29.448" v="78" actId="478"/>
          <ac:spMkLst>
            <pc:docMk/>
            <pc:sldMk cId="0" sldId="285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4:29.448" v="78" actId="478"/>
          <ac:spMkLst>
            <pc:docMk/>
            <pc:sldMk cId="0" sldId="285"/>
            <ac:spMk id="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24:29.448" v="78" actId="478"/>
          <ac:spMkLst>
            <pc:docMk/>
            <pc:sldMk cId="0" sldId="285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1F7-4316-8548-14E416CBC808}"/>
              </c:ext>
            </c:extLst>
          </c:dPt>
          <c:dPt>
            <c:idx val="1"/>
            <c:invertIfNegative val="0"/>
            <c:bubble3D val="0"/>
            <c:spPr>
              <a:solidFill>
                <a:srgbClr val="7B3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1F7-4316-8548-14E416CBC808}"/>
              </c:ext>
            </c:extLst>
          </c:dPt>
          <c:dPt>
            <c:idx val="2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1F7-4316-8548-14E416CBC808}"/>
              </c:ext>
            </c:extLst>
          </c:dPt>
          <c:dPt>
            <c:idx val="3"/>
            <c:invertIfNegative val="0"/>
            <c:bubble3D val="0"/>
            <c:spPr>
              <a:solidFill>
                <a:srgbClr val="4A23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1F7-4316-8548-14E416CBC80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Outerwear</c:v>
                </c:pt>
                <c:pt idx="1">
                  <c:v>Footwear</c:v>
                </c:pt>
                <c:pt idx="2">
                  <c:v>Accessories</c:v>
                </c:pt>
                <c:pt idx="3">
                  <c:v>Clothing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18524</c:v>
                </c:pt>
                <c:pt idx="1">
                  <c:v>36093</c:v>
                </c:pt>
                <c:pt idx="2">
                  <c:v>74200</c:v>
                </c:pt>
                <c:pt idx="3">
                  <c:v>104264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1F7-4316-8548-14E416CBC8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C39BD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7C6-4532-8D69-1F9E6958AA68}"/>
              </c:ext>
            </c:extLst>
          </c:dPt>
          <c:dPt>
            <c:idx val="1"/>
            <c:invertIfNegative val="0"/>
            <c:bubble3D val="0"/>
            <c:spPr>
              <a:solidFill>
                <a:srgbClr val="4A23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7C6-4532-8D69-1F9E6958AA6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7C6-4532-8D69-1F9E6958AA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23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586-4D69-A9EF-E8C273AA6234}"/>
              </c:ext>
            </c:extLst>
          </c:dPt>
          <c:dPt>
            <c:idx val="1"/>
            <c:bubble3D val="0"/>
            <c:spPr>
              <a:solidFill>
                <a:srgbClr val="C39B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86-4D69-A9EF-E8C273AA623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586-4D69-A9EF-E8C273AA623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586-4D69-A9EF-E8C273AA623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Full Price (No Discount)</c:v>
                </c:pt>
                <c:pt idx="1">
                  <c:v>Discounted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133670</c:v>
                </c:pt>
                <c:pt idx="1">
                  <c:v>99411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586-4D69-A9EF-E8C273AA62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23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297-4C86-BC1A-07607886894B}"/>
              </c:ext>
            </c:extLst>
          </c:dPt>
          <c:dPt>
            <c:idx val="1"/>
            <c:bubble3D val="0"/>
            <c:spPr>
              <a:solidFill>
                <a:srgbClr val="7B3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97-4C86-BC1A-07607886894B}"/>
              </c:ext>
            </c:extLst>
          </c:dPt>
          <c:dPt>
            <c:idx val="2"/>
            <c:bubble3D val="0"/>
            <c:spPr>
              <a:solidFill>
                <a:srgbClr val="C39B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97-4C86-BC1A-07607886894B}"/>
              </c:ext>
            </c:extLst>
          </c:dPt>
          <c:dPt>
            <c:idx val="3"/>
            <c:bubble3D val="0"/>
            <c:spPr>
              <a:solidFill>
                <a:srgbClr val="A267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297-4C86-BC1A-07607886894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297-4C86-BC1A-07607886894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297-4C86-BC1A-07607886894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297-4C86-BC1A-07607886894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297-4C86-BC1A-07607886894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297-4C86-BC1A-076078868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Amount ($)</c:v>
                </c:pt>
              </c:strCache>
            </c:strRef>
          </c:tx>
          <c:spPr>
            <a:solidFill>
              <a:srgbClr val="4A23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4C3-485B-B18E-BB1E01BEC1D7}"/>
              </c:ext>
            </c:extLst>
          </c:dPt>
          <c:dPt>
            <c:idx val="1"/>
            <c:invertIfNegative val="0"/>
            <c:bubble3D val="0"/>
            <c:spPr>
              <a:solidFill>
                <a:srgbClr val="7B3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C3-485B-B18E-BB1E01BEC1D7}"/>
              </c:ext>
            </c:extLst>
          </c:dPt>
          <c:dPt>
            <c:idx val="2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4C3-485B-B18E-BB1E01BEC1D7}"/>
              </c:ext>
            </c:extLst>
          </c:dPt>
          <c:dPt>
            <c:idx val="3"/>
            <c:invertIfNegative val="0"/>
            <c:bubble3D val="0"/>
            <c:spPr>
              <a:solidFill>
                <a:srgbClr val="C39B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4C3-485B-B18E-BB1E01BEC1D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18–25</c:v>
                </c:pt>
                <c:pt idx="1">
                  <c:v>26–35</c:v>
                </c:pt>
                <c:pt idx="2">
                  <c:v>36–50</c:v>
                </c:pt>
                <c:pt idx="3">
                  <c:v>51–70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59.2</c:v>
                </c:pt>
                <c:pt idx="1">
                  <c:v>60.1</c:v>
                </c:pt>
                <c:pt idx="2">
                  <c:v>59.9</c:v>
                </c:pt>
                <c:pt idx="3">
                  <c:v>59.7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4C3-485B-B18E-BB1E01BEC1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5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Spring</c:v>
                </c:pt>
              </c:strCache>
            </c:strRef>
          </c:tx>
          <c:spPr>
            <a:solidFill>
              <a:srgbClr val="4A235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26100</c:v>
                </c:pt>
                <c:pt idx="1">
                  <c:v>18550</c:v>
                </c:pt>
                <c:pt idx="2">
                  <c:v>9029</c:v>
                </c:pt>
                <c:pt idx="3">
                  <c:v>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76-4375-939F-AE4C020BC9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Summer</c:v>
                </c:pt>
              </c:strCache>
            </c:strRef>
          </c:tx>
          <c:spPr>
            <a:solidFill>
              <a:srgbClr val="7B3F8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24900</c:v>
                </c:pt>
                <c:pt idx="1">
                  <c:v>17600</c:v>
                </c:pt>
                <c:pt idx="2">
                  <c:v>8900</c:v>
                </c:pt>
                <c:pt idx="3">
                  <c:v>4377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76-4375-939F-AE4C020BC9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Fall</c:v>
                </c:pt>
              </c:strCache>
            </c:strRef>
          </c:tx>
          <c:spPr>
            <a:solidFill>
              <a:srgbClr val="C39BD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27000</c:v>
                </c:pt>
                <c:pt idx="1">
                  <c:v>19500</c:v>
                </c:pt>
                <c:pt idx="2">
                  <c:v>9200</c:v>
                </c:pt>
                <c:pt idx="3">
                  <c:v>4318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776-4375-939F-AE4C020BC97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Winter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26264</c:v>
                </c:pt>
                <c:pt idx="1">
                  <c:v>18550</c:v>
                </c:pt>
                <c:pt idx="2">
                  <c:v>8964</c:v>
                </c:pt>
                <c:pt idx="3">
                  <c:v>4829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776-4375-939F-AE4C020BC9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Transactions</c:v>
                </c:pt>
              </c:strCache>
            </c:strRef>
          </c:tx>
          <c:spPr>
            <a:solidFill>
              <a:srgbClr val="4A23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E6-4F5F-93CA-2BC0E7DDC025}"/>
              </c:ext>
            </c:extLst>
          </c:dPt>
          <c:dPt>
            <c:idx val="1"/>
            <c:invertIfNegative val="0"/>
            <c:bubble3D val="0"/>
            <c:spPr>
              <a:solidFill>
                <a:srgbClr val="5E2E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E6-4F5F-93CA-2BC0E7DDC025}"/>
              </c:ext>
            </c:extLst>
          </c:dPt>
          <c:dPt>
            <c:idx val="2"/>
            <c:invertIfNegative val="0"/>
            <c:bubble3D val="0"/>
            <c:spPr>
              <a:solidFill>
                <a:srgbClr val="7B3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E6-4F5F-93CA-2BC0E7DDC025}"/>
              </c:ext>
            </c:extLst>
          </c:dPt>
          <c:dPt>
            <c:idx val="3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DE6-4F5F-93CA-2BC0E7DDC025}"/>
              </c:ext>
            </c:extLst>
          </c:dPt>
          <c:dPt>
            <c:idx val="4"/>
            <c:invertIfNegative val="0"/>
            <c:bubble3D val="0"/>
            <c:spPr>
              <a:solidFill>
                <a:srgbClr val="B07C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DE6-4F5F-93CA-2BC0E7DDC025}"/>
              </c:ext>
            </c:extLst>
          </c:dPt>
          <c:dPt>
            <c:idx val="5"/>
            <c:invertIfNegative val="0"/>
            <c:bubble3D val="0"/>
            <c:spPr>
              <a:solidFill>
                <a:srgbClr val="C39B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DE6-4F5F-93CA-2BC0E7DDC02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Bank Transfer</c:v>
                </c:pt>
                <c:pt idx="1">
                  <c:v>Venmo</c:v>
                </c:pt>
                <c:pt idx="2">
                  <c:v>Debit Card</c:v>
                </c:pt>
                <c:pt idx="3">
                  <c:v>Cash</c:v>
                </c:pt>
                <c:pt idx="4">
                  <c:v>Credit Card</c:v>
                </c:pt>
                <c:pt idx="5">
                  <c:v>PayPal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612</c:v>
                </c:pt>
                <c:pt idx="1">
                  <c:v>634</c:v>
                </c:pt>
                <c:pt idx="2">
                  <c:v>636</c:v>
                </c:pt>
                <c:pt idx="3">
                  <c:v>670</c:v>
                </c:pt>
                <c:pt idx="4">
                  <c:v>671</c:v>
                </c:pt>
                <c:pt idx="5">
                  <c:v>677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DE6-4F5F-93CA-2BC0E7DDC0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58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41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7B3F8C">
              <a:alpha val="25000"/>
            </a:srgbClr>
          </a:solidFill>
          <a:ln w="12700">
            <a:solidFill>
              <a:srgbClr val="7B3F8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C39BD3">
              <a:alpha val="20000"/>
            </a:srgbClr>
          </a:solidFill>
          <a:ln w="12700">
            <a:solidFill>
              <a:srgbClr val="C39BD3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</a:rPr>
              <a:t>CUSTOMER SHOPPING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C39BD3"/>
                </a:solidFill>
              </a:rPr>
              <a:t>BEHAVIOR ANALYSIS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BFD6"/>
                </a:solidFill>
              </a:rPr>
              <a:t>A Comprehensive Business Intelligence Report on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CBBFD6"/>
                </a:solidFill>
              </a:rPr>
              <a:t>Revenue Drivers, Demographics &amp; Seasonal Trends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4114800" cy="3658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Table of Contents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0" y="4956048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39BD3"/>
                </a:solidFill>
              </a:rPr>
              <a:t>Slide 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206240" cy="68580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411480" cy="6858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772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813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Introduction &amp; Domain Overview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Background, context, and industry landscape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581912"/>
            <a:ext cx="4206240" cy="685800"/>
          </a:xfrm>
          <a:prstGeom prst="rect">
            <a:avLst/>
          </a:prstGeom>
          <a:solidFill>
            <a:srgbClr val="E9E4EE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581912"/>
            <a:ext cx="411480" cy="6858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58191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1618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Problem Statement &amp; Objectives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1929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Business challenges and analytical goals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386584"/>
            <a:ext cx="4206240" cy="68580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86584"/>
            <a:ext cx="411480" cy="6858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86584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Dataset Overview &amp; Understanding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2734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Data structure, variables, and relationships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191256"/>
            <a:ext cx="4206240" cy="685800"/>
          </a:xfrm>
          <a:prstGeom prst="rect">
            <a:avLst/>
          </a:prstGeom>
          <a:solidFill>
            <a:srgbClr val="E9E4EE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191256"/>
            <a:ext cx="411480" cy="6858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191256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3227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Data Cleaning &amp; Transformation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Preprocessing steps and feature engineering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995928"/>
            <a:ext cx="4206240" cy="68580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995928"/>
            <a:ext cx="411480" cy="6858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995928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4032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Tools &amp; Business Questions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Technology stack and key analytical queries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46320" y="777240"/>
            <a:ext cx="4206240" cy="685800"/>
          </a:xfrm>
          <a:prstGeom prst="rect">
            <a:avLst/>
          </a:prstGeom>
          <a:solidFill>
            <a:srgbClr val="E9E4EE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777240"/>
            <a:ext cx="411480" cy="68580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7772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813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Exploratory Data Analysis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Initial trends, patterns, and observations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46320" y="1581912"/>
            <a:ext cx="4206240" cy="68580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1581912"/>
            <a:ext cx="411480" cy="68580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58191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03520" y="1618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Charts &amp; Visual Analysis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1929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Bar, Line, Pie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2386584"/>
            <a:ext cx="4206240" cy="685800"/>
          </a:xfrm>
          <a:prstGeom prst="rect">
            <a:avLst/>
          </a:prstGeom>
          <a:solidFill>
            <a:srgbClr val="E9E4EE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386584"/>
            <a:ext cx="411480" cy="68580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386584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03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Dashboard Walkthrough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03520" y="2734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KPIs, filters, and interactive elements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3191256"/>
            <a:ext cx="4206240" cy="68580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3191256"/>
            <a:ext cx="411480" cy="68580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191256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03520" y="3227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Insights, Recommendations &amp; Conclusion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03520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Key findings and strategic actions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Introduction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3931920" cy="402336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731520"/>
            <a:ext cx="4114800" cy="4023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35A"/>
                </a:solidFill>
              </a:rPr>
              <a:t>Background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356616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0A26"/>
                </a:solidFill>
              </a:rPr>
              <a:t>Retail businesses rely on deep understanding of customer purchasing patterns to optimize inventory, marketing, and revenue.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0A26"/>
                </a:solidFill>
              </a:rPr>
              <a:t>This project analyzes 3,900 customer transactions from a fashion retail brand covering clothing, accessories, footwear, and outerwear.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0A26"/>
                </a:solidFill>
              </a:rPr>
              <a:t>The dataset spans all four seasons and captures demographic, behavioral, and transactional attributes.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777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39BD3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Retail is a $25+ trillion global industry where data-driven decisions directly impact profitability.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Understanding who buys what, when, and how enables targeted campaigns and smarter pricing.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Discount strategies can either grow volume or erode margins — data reveals the right balance.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Seasonal insights prevent stock-outs during peaks and overstock during slow periods.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343400"/>
            <a:ext cx="192024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4389120"/>
            <a:ext cx="192024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$233K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4320" y="4688129"/>
            <a:ext cx="192024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4343400"/>
            <a:ext cx="1920240" cy="59436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23160" y="4389120"/>
            <a:ext cx="192024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3,900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423160" y="4688129"/>
            <a:ext cx="192024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4343400"/>
            <a:ext cx="192024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4389120"/>
            <a:ext cx="192024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0" y="4688129"/>
            <a:ext cx="192024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4343400"/>
            <a:ext cx="1920240" cy="59436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6720840" y="4389120"/>
            <a:ext cx="192024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18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720840" y="4688129"/>
            <a:ext cx="192024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 Columns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Domain Overview – Fashion Retail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731520"/>
            <a:ext cx="2743200" cy="1920240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22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🏬  Industry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2070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Fashion retail is a highly competitive, trend-driven industry. Brands must balance style, price, and availability while adapting to shifting consumer preferences each season.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36392" y="731520"/>
            <a:ext cx="2743200" cy="1920240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27832" y="822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👥  Customer Segmentation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27832" y="12070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Retailers segment customers by demographics (age, gender), behavior (purchase frequency, spend), and preferences (categories, colors) to personalize outreach.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44184" y="731520"/>
            <a:ext cx="2743200" cy="1920240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35624" y="822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💰  Revenue Drivers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35624" y="12070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Key revenue levers include product category mix, pricing strategy (full-price vs. discount), seasonal promotions, and loyalty programs (subscriptions).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788920"/>
            <a:ext cx="2743200" cy="192024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</a:rPr>
              <a:t>📦  Omnichannel Retail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2644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26"/>
                </a:solidFill>
              </a:rPr>
              <a:t>Modern retail spans in-store, online, and mobile. Payment variety (Venmo, PayPal, Credit Card) reflects the digitization of shopping and diverse customer preferences.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36392" y="2788920"/>
            <a:ext cx="2743200" cy="192024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27832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</a:rPr>
              <a:t>🏷️  Discount Dynamics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27832" y="32644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26"/>
                </a:solidFill>
              </a:rPr>
              <a:t>Discounts drive volume but risk brand dilution. Optimal discount strategy balances acquisition of price-sensitive buyers with protection of full-price revenue.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44184" y="2788920"/>
            <a:ext cx="2743200" cy="192024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35624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</a:rPr>
              <a:t>📅  Seasonal Planning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35624" y="32644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A26"/>
                </a:solidFill>
              </a:rPr>
              <a:t>Fashion categories show seasonal demand (e.g., Outerwear peaks in Fall/Winter). Accurate forecasting reduces markdowns and improves sell-through rates.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0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85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A235A"/>
                </a:solidFill>
              </a:rPr>
              <a:t>"Despite generating $233K in total revenue, the business lacks a clear understanding of the behavioral and demographic factors driving purchases — making it difficult to target marketing, optimize product mix, and plan for seasonal demand effectively."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160520" cy="1417320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892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39BD3"/>
                </a:solidFill>
              </a:rPr>
              <a:t>⚠️  Gender Revenue Gap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Male shoppers account for 68% of revenue ($157K vs $75K for female). The reason for this disparity is unknown — is it product mix, marketing, or pricing?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4160520" cy="1417320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892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39BD3"/>
                </a:solidFill>
              </a:rPr>
              <a:t>⚠️  Discount Over-reliance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25856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43% of revenue ($99K) comes from discounted sales. Without analysis, the brand risks over-discounting and eroding margins unnecessarily.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4160520" cy="141732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447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35A"/>
                </a:solidFill>
              </a:rPr>
              <a:t>⚠️  Category Imbalance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81304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Clothing alone contributes 45% of revenue ($104K) while Outerwear barely registers at $18K. Diversification strategy is unclear.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3337560"/>
            <a:ext cx="4160520" cy="141732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447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35A"/>
                </a:solidFill>
              </a:rPr>
              <a:t>⚠️  Seasonal Blind Spots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81304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Revenue only varies by ~8% across seasons ($55K–$60K). Whether this is strength or missed opportunity in peak seasons is unanalyzed.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Objectives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73152" cy="190195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</a:rPr>
              <a:t>Business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0972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6"/>
                </a:solidFill>
              </a:rPr>
              <a:t>→  Identify the primary revenue drivers across gender, category, and season.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6"/>
                </a:solidFill>
              </a:rPr>
              <a:t>→  Evaluate the effectiveness of discount strategies on purchase volume.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048256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6"/>
                </a:solidFill>
              </a:rPr>
              <a:t>→  Understand customer purchasing frequency and its revenue impact.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523744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6"/>
                </a:solidFill>
              </a:rPr>
              <a:t>→  Provide actionable recommendations to improve marketing ROI.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3246120"/>
            <a:ext cx="73152" cy="1426464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8C"/>
                </a:solidFill>
              </a:rPr>
              <a:t>Analytical Goal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935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6"/>
                </a:solidFill>
              </a:rPr>
              <a:t>→  Perform structured EDA to uncover hidden patterns in 3,900 records.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0690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6"/>
                </a:solidFill>
              </a:rPr>
              <a:t>→  Build interactive dashboards for non-technical stakeholders.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54456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6"/>
                </a:solidFill>
              </a:rPr>
              <a:t>→  Quantify performance gaps and benchmark across segments.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5266944"/>
            <a:ext cx="73152" cy="950976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52669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6769"/>
                </a:solidFill>
              </a:rPr>
              <a:t>Expected Outcome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5614416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6"/>
                </a:solidFill>
              </a:rPr>
              <a:t>→  A complete BI report with charts, dashboards, and strategic recommendations.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089904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6"/>
                </a:solidFill>
              </a:rPr>
              <a:t>→  Data-driven decisions on pricing, product mix, and seasonal campaigns.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956048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39BD3"/>
                </a:solidFill>
              </a:rPr>
              <a:t>Customer Shopping Behavior Analysis  |  2024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956048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39BD3"/>
                </a:solidFill>
              </a:rPr>
              <a:t>Slide 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13232"/>
            <a:ext cx="1920240" cy="8229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758952"/>
            <a:ext cx="1920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3,900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190549"/>
            <a:ext cx="192024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713232"/>
            <a:ext cx="1920240" cy="82296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758952"/>
            <a:ext cx="1920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0" y="1190549"/>
            <a:ext cx="192024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713232"/>
            <a:ext cx="1920240" cy="8229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758952"/>
            <a:ext cx="1920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1190549"/>
            <a:ext cx="192024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 Sheet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713232"/>
            <a:ext cx="1920240" cy="82296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758952"/>
            <a:ext cx="1920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3,900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0840" y="1190549"/>
            <a:ext cx="192024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Unique Customers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64208"/>
          <a:ext cx="8595360" cy="3474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3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per customer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age (18–70)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Purchased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product 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 / Accessories / Footwear / Outerwear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Amount (USD)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value ($20–$100)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State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S, M, L, XL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color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 / Winter / Spring / Fall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Rating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star rating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Applied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Cash, Card, PayPal, etc.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7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of Purchases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to Annually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B3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Summary &amp; Statistical Overview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18288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3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Age (Years)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44.1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44.0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Purchase Amount (USD)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$59.8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$60.0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Review Rating (1–5)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5.0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3.75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3.7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Previous Purchases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25.4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25.0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2743200"/>
            <a:ext cx="4160520" cy="10515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384048" y="2816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Age Distribution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31089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Broad age range 18–70 with an average of 44.1 years. The dataset represents a mature adult demographic rather than teen/young-adult buyers.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2743200"/>
            <a:ext cx="4160520" cy="105156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2816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Spend Distribution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18888" y="31089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Purchase amounts are evenly distributed between $20 and $100 with a near-perfect median of $60 — suggesting consistent mid-range pricing across the product line.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3886200"/>
            <a:ext cx="4160520" cy="10515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3959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Review Ratings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4048" y="42519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Average rating of 3.75/5 indicates moderate-to-good customer satisfaction. The minimum of 2.5 signals some product or experience issues worth investigating.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09160" y="3886200"/>
            <a:ext cx="4160520" cy="10515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18888" y="3959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Purchase History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18888" y="42519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Customers average 25.4 prior purchases, indicating a highly loyal and repeat buyer base — a strong foundation for subscription and loyalty programs.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Understanding – Variable Relationships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3931920" cy="406908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749808"/>
            <a:ext cx="4389120" cy="406908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</a:rPr>
              <a:t>Key Variable Roles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🎯  Target: Purchase Amount (USD) — our primary revenue metric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👥  Demographic: Age, Gender — who is buying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13969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🛍️  Product: Category, Item, Color, Size — what they buy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61518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📅  Temporal: Season — when they buy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0906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💳  Transactional: Payment Method, Discount, Promo Code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🔄  Behavioral: Frequency, Previous Purchases, Subscription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40416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⭐  Feedback: Review Rating — customer satisfaction proxy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1772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39BD3"/>
                </a:solidFill>
              </a:rPr>
              <a:t>Key Relationships Identified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▸  Gender → Purchase Amount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5087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Males spend significantly more in total ($157K vs $75K for females), though per-transaction averages are similar — volume is the driver.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▸  Category → Revenue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4688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Clothing drives the most revenue not necessarily because of higher prices, but higher transaction volume (1,737 clothing purchases).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▸  Discount → Purchase Behavior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42900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Discounts correlate with 43% of revenue, suggesting price-sensitive buyers form a distinct and significant segment.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1772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▸  Season → Category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43891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Outerwear is expected to peak in Fall/Winter — seasonal planning should align inventory with category demand patterns.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Cleaning – Overview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35A"/>
                </a:solidFill>
              </a:rPr>
              <a:t>Why Data Cleaning is Essential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0A26"/>
                </a:solidFill>
              </a:rPr>
              <a:t>Raw data from retail systems often contains inconsistencies, missing entries, formatting errors, and outliers that can skew analytical results. Without thorough cleaning, business decisions may be based on flawed insights.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920240"/>
            <a:ext cx="2743200" cy="1298448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❓  Missing Values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042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Blank cells in categorical or numeric fields create gaps in analysis. Even a small % of missing data in key fields like Purchase Amount can distort revenue totals.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2926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C0D"/>
                </a:solidFill>
              </a:rPr>
              <a:t>✓  Checked — Dataset complete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36392" y="1920240"/>
            <a:ext cx="2743200" cy="1298448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🔁  Duplicate Records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27832" y="23042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Duplicate Customer IDs or transactions would artificially inflate purchase counts and revenue figures, leading to overestimated metrics.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27832" y="2926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C0D"/>
                </a:solidFill>
              </a:rPr>
              <a:t>✓  Checked — No duplicates found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44184" y="1920240"/>
            <a:ext cx="2743200" cy="1298448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🔤  Data Type Issues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23042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Columns like Age and Purchase Amount must be numeric; Date/Season fields must be consistent strings. Mixed types break aggregation functions.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35624" y="2926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C0D"/>
                </a:solidFill>
              </a:rPr>
              <a:t>✓  Verified — Types are correct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" y="3511296"/>
            <a:ext cx="2743200" cy="1298448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📝  Inconsistent Labels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389534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A26"/>
                </a:solidFill>
              </a:rPr>
              <a:t>Variations like 'male'/'Male'/'MALE' or 'yes'/'Yes' in categorical columns create extra groups that fragment analysis.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45171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B3F8C"/>
                </a:solidFill>
              </a:rPr>
              <a:t>✓  Standardized — Labels are clean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Cleaning – Steps Performed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50292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749808"/>
            <a:ext cx="8083296" cy="594360"/>
          </a:xfrm>
          <a:prstGeom prst="rect">
            <a:avLst/>
          </a:prstGeom>
          <a:solidFill>
            <a:srgbClr val="F3EAF7"/>
          </a:solidFill>
          <a:ln w="12700">
            <a:solidFill>
              <a:srgbClr val="E9E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7863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</a:rPr>
              <a:t>Missing Value Treatment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0515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Performed a full audit using Excel's COUNTBLANK() function across all 18 columns. Result: 0 missing values in any field. Dataset is 100% complete — no imputation required.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223760" y="896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3F8C"/>
                </a:solidFill>
              </a:rPr>
              <a:t>✅ Complete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453896"/>
            <a:ext cx="502920" cy="594360"/>
          </a:xfrm>
          <a:prstGeom prst="rect">
            <a:avLst/>
          </a:prstGeom>
          <a:solidFill>
            <a:srgbClr val="7B3F8C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45389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" y="1453896"/>
            <a:ext cx="808329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90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</a:rPr>
              <a:t>Duplicate Record Removal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17556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Used Excel's Remove Duplicates feature on Customer ID column. Verified uniqueness across all 3,900 rows. Result: No duplicate records found.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22376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3F8C"/>
                </a:solidFill>
              </a:rPr>
              <a:t>✅ Clean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157984"/>
            <a:ext cx="50292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1579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" y="2157984"/>
            <a:ext cx="8083296" cy="594360"/>
          </a:xfrm>
          <a:prstGeom prst="rect">
            <a:avLst/>
          </a:prstGeom>
          <a:solidFill>
            <a:srgbClr val="F3EAF7"/>
          </a:solidFill>
          <a:ln w="12700">
            <a:solidFill>
              <a:srgbClr val="E9E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194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</a:rPr>
              <a:t>Data Type 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4597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Confirmed Age and Purchase Amount are stored as integers; Review Rating as decimal; all categorical fields as text strings. Corrected formatting for Discount Applied (Yes/No binary).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223760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3F8C"/>
                </a:solidFill>
              </a:rPr>
              <a:t>✅ Validated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862072"/>
            <a:ext cx="502920" cy="594360"/>
          </a:xfrm>
          <a:prstGeom prst="rect">
            <a:avLst/>
          </a:prstGeom>
          <a:solidFill>
            <a:srgbClr val="7B3F8C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8620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" y="2862072"/>
            <a:ext cx="808329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4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2898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</a:rPr>
              <a:t>Outlier Detection &amp; Treatment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16382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Applied IQR method on Purchase Amount ($20–$100 range verified), Age (18–70 confirmed), and Review Rating (2.5–5.0). No statistical outliers found outside expected ranges.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23760" y="3008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3F8C"/>
                </a:solidFill>
              </a:rPr>
              <a:t>✅ No Outliers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3566160"/>
            <a:ext cx="50292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35661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04672" y="3566160"/>
            <a:ext cx="8083296" cy="594360"/>
          </a:xfrm>
          <a:prstGeom prst="rect">
            <a:avLst/>
          </a:prstGeom>
          <a:solidFill>
            <a:srgbClr val="F3EAF7"/>
          </a:solidFill>
          <a:ln w="12700">
            <a:solidFill>
              <a:srgbClr val="E9E4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6027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</a:rPr>
              <a:t>Category &amp; Label Standardization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3867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Verified all Category values match exactly: Clothing, Accessories, Footwear, Outerwear. Gender confirmed as Male/Female only. Season values validated as Summer/Winter/Spring/Fall.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223760" y="3712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3F8C"/>
                </a:solidFill>
              </a:rPr>
              <a:t>✅ Standardized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4270248"/>
            <a:ext cx="502920" cy="594360"/>
          </a:xfrm>
          <a:prstGeom prst="rect">
            <a:avLst/>
          </a:prstGeom>
          <a:solidFill>
            <a:srgbClr val="7B3F8C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42702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04672" y="4270248"/>
            <a:ext cx="808329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4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43068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</a:rPr>
              <a:t>Column Renaming &amp; Formatting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" y="45720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Standardized column headers to PascalCase with spaces for readability in Power BI. Removed trailing spaces from string columns using TRIM(). Set consistent number formatting.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223760" y="4416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3F8C"/>
                </a:solidFill>
              </a:rPr>
              <a:t>✅ Formatted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Transformation &amp; Feature Engineering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8595360" cy="1737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39BD3"/>
                </a:solidFill>
              </a:rPr>
              <a:t>New Calculated Fields &amp; Aggregations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by Gender:  SUMIF(Gender, "Male", PurchaseAmount)  →  Aggregated total spend per gender segment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by Category:  SUMIF(Category, "Clothing", PurchaseAmount)  →  Category-level revenue totals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 Revenue Split:  SUMIF(DiscountApplied, "Yes", PurchaseAmount)  →  Full-price vs. discounted 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Seasonal Revenue:  SUMIF(Season, "Fall", PurchaseAmount)  →  Quarter/season performance aggregation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651760"/>
            <a:ext cx="2743200" cy="1115568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724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⚙  Age Bands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30358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Created Age Group bins: 18–25 (Youth), 26–35 (Young Adult), 36–50 (Mid-Age), 51–70 (Senior) for demographic trend analysis.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63824" y="2651760"/>
            <a:ext cx="2743200" cy="1115568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2724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⚙  Revenue % Share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55264" y="30358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Calculated each category's and gender's percentage of total revenue for proportional comparisons in pie and donut charts.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71616" y="2651760"/>
            <a:ext cx="2743200" cy="1115568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724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⚙  Spend Per Transaction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63056" y="30358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Computed average purchase amount per segment (gender, season, category) to differentiate volume effects from price effects.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886200"/>
            <a:ext cx="2743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9593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⚙  Discount Rate Column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2702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Created a binary Discount_Flag numeric (0/1) to enable correlation analysis between discounts and review ratings or purchase frequency.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63824" y="3886200"/>
            <a:ext cx="2743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55264" y="39593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⚙  Season Sort Order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55264" y="42702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Added a numerical Season_Order column (Spring=1, Summer=2, Fall=3, Winter=4) to ensure correct chronological ordering in trend charts.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71616" y="3886200"/>
            <a:ext cx="2743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39593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⚙  Customer Tier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63056" y="42702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Segmented customers into High Value (&gt;$80), Mid Value ($50–$80), and Budget (&lt;$50) tiers based on purchase amount for targeted strategy.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Tools &amp; Technologies Used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160520" cy="2011680"/>
          </a:xfrm>
          <a:prstGeom prst="rect">
            <a:avLst/>
          </a:prstGeom>
          <a:solidFill>
            <a:srgbClr val="F3EAF7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49808"/>
            <a:ext cx="4160520" cy="50292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498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Microsoft Excel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31673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A26"/>
                </a:solidFill>
              </a:rPr>
              <a:t>✓  Data cleaning &amp; validation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A26"/>
                </a:solidFill>
              </a:rPr>
              <a:t>✓  SUMIF/COUNTIF aggregations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A26"/>
                </a:solidFill>
              </a:rPr>
              <a:t>✓  Pivot tables for quick summaries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A26"/>
                </a:solidFill>
              </a:rPr>
              <a:t>✓  Initial statistical exploration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749808"/>
            <a:ext cx="4160520" cy="2011680"/>
          </a:xfrm>
          <a:prstGeom prst="rect">
            <a:avLst/>
          </a:prstGeom>
          <a:solidFill>
            <a:srgbClr val="F3EAF7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749808"/>
            <a:ext cx="4160520" cy="50292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7498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📈  Tableau Desktop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31673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A26"/>
                </a:solidFill>
              </a:rPr>
              <a:t>✓  Interactive dashboard creation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66420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A26"/>
                </a:solidFill>
              </a:rPr>
              <a:t>✓  Bar, line, and pie chart visuals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01168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A26"/>
                </a:solidFill>
              </a:rPr>
              <a:t>✓  Color-coded gender &amp; category charts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35915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A26"/>
                </a:solidFill>
              </a:rPr>
              <a:t>✓  Dashboard screenshots for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Business Questions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4160520" cy="96012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49808"/>
            <a:ext cx="502920" cy="96012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74980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56432" y="822960"/>
            <a:ext cx="886968" cy="256032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82296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235A"/>
                </a:solidFill>
              </a:rPr>
              <a:t>Demographics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50392" y="859536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Which gender contributes more to total revenue, and what drives this gap?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90872" y="749808"/>
            <a:ext cx="502920" cy="96012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74980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91272" y="822960"/>
            <a:ext cx="886968" cy="256032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91272" y="82296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235A"/>
                </a:solidFill>
              </a:rPr>
              <a:t>Product Mix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85232" y="859536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Which product categories generate the highest and lowest revenue?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1801368"/>
            <a:ext cx="4160520" cy="96012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1801368"/>
            <a:ext cx="502920" cy="96012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180136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56432" y="1874520"/>
            <a:ext cx="886968" cy="256032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18745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235A"/>
                </a:solidFill>
              </a:rPr>
              <a:t>Pricing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50392" y="1911096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How does discount application affect overall revenue volume?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90872" y="180136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0872" y="1801368"/>
            <a:ext cx="502920" cy="96012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180136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91272" y="1874520"/>
            <a:ext cx="886968" cy="256032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91272" y="18745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235A"/>
                </a:solidFill>
              </a:rPr>
              <a:t>Seasonality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85232" y="1911096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Are there significant seasonal variations in purchasing behavior?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2852928"/>
            <a:ext cx="4160520" cy="96012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2852928"/>
            <a:ext cx="502920" cy="960120"/>
          </a:xfrm>
          <a:prstGeom prst="rect">
            <a:avLst/>
          </a:prstGeom>
          <a:solidFill>
            <a:srgbClr val="7B3F8C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285292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456432" y="2926080"/>
            <a:ext cx="886968" cy="256032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292608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235A"/>
                </a:solidFill>
              </a:rPr>
              <a:t>Loyalty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50392" y="2962656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What is the relationship between purchase frequency and customer spend?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90872" y="285292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90872" y="2852928"/>
            <a:ext cx="502920" cy="960120"/>
          </a:xfrm>
          <a:prstGeom prst="rect">
            <a:avLst/>
          </a:prstGeom>
          <a:solidFill>
            <a:srgbClr val="7B3F8C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90872" y="285292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Q6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891272" y="2926080"/>
            <a:ext cx="886968" cy="256032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91272" y="292608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235A"/>
                </a:solidFill>
              </a:rPr>
              <a:t>Payments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285232" y="2962656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Which payment methods are most popular and do they correlate with spend levels?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6032" y="3904488"/>
            <a:ext cx="4160520" cy="96012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" y="3904488"/>
            <a:ext cx="502920" cy="960120"/>
          </a:xfrm>
          <a:prstGeom prst="rect">
            <a:avLst/>
          </a:prstGeom>
          <a:solidFill>
            <a:srgbClr val="7B3F8C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" y="390448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Q7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456432" y="3977640"/>
            <a:ext cx="886968" cy="256032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56432" y="397764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235A"/>
                </a:solidFill>
              </a:rPr>
              <a:t>Demographics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50392" y="4014216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How does age distribution vary across product categories?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90872" y="390448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90872" y="3904488"/>
            <a:ext cx="502920" cy="960120"/>
          </a:xfrm>
          <a:prstGeom prst="rect">
            <a:avLst/>
          </a:prstGeom>
          <a:solidFill>
            <a:srgbClr val="7B3F8C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90872" y="390448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Q8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891272" y="3977640"/>
            <a:ext cx="886968" cy="256032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91272" y="397764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235A"/>
                </a:solidFill>
              </a:rPr>
              <a:t>Satisfaction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285232" y="4014216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A26"/>
                </a:solidFill>
              </a:rPr>
              <a:t>Do customers who use promo codes have higher review ratings than those who don't?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Exploratory Data Analysis – Initial Findings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35A"/>
                </a:solidFill>
              </a:rPr>
              <a:t>Key Observations from Initial Exploration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2743200" cy="16002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Gender Dominance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6276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Male shoppers represent 68% of transactions (2,652 of 3,900) and 68% of revenue ($157,890 of $233,081). The female segment, while smaller, has consistent spending patterns.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63824" y="1188720"/>
            <a:ext cx="2743200" cy="160020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Clothing is 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55264" y="16276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Clothing category has 1,737 transactions — 2.9× more than Accessories (1,240), 2.9× more than Footwear (599), and 5.4× more than Outerwear (324).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71616" y="1188720"/>
            <a:ext cx="2743200" cy="16002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Balanced Seasons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63056" y="16276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Seasonal revenue ranges narrowly from $55,777 (Summer) to $60,018 (Fall) — a spread of only 7.6%. The business has effectively de-seasonalized its revenue model.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2926080"/>
            <a:ext cx="2743200" cy="160020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Full Price Preference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" y="336499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57.2% of transactions (2,223 of 3,900) occur without any discount. This strong full-price performance signals healthy brand perception and demand elasticity.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63824" y="2926080"/>
            <a:ext cx="2743200" cy="16002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5264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Loyal Customer 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55264" y="336499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Average of 25.4 previous purchases per customer, with a maximum of 50. This high repeat rate indicates strong brand loyalty and low churn risk.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71616" y="2926080"/>
            <a:ext cx="2743200" cy="160020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39BD3"/>
                </a:solidFill>
              </a:rPr>
              <a:t>Diverse Payment Mix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63056" y="336499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All 6 payment methods (Cash, Credit Card, PayPal, Debit Card, Venmo, Bank Transfer) are nearly equally distributed (~630–677 each), reflecting broad demographic accessibility.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Chart 1 – Revenue by Product Category (Bar Chart)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713232"/>
          <a:ext cx="56692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713232"/>
            <a:ext cx="2834640" cy="4023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777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39BD3"/>
                </a:solidFill>
              </a:rPr>
              <a:t>📊 Chart Insights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99632" y="12070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What the Chart Shows: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99632" y="145389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Revenue totals for each of the 4 product categories, sorted from lowest to highest.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99632" y="19476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Key Findings: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99632" y="219456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Clothing = $104,264 (44.7% of total revenue)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99632" y="24414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Accessories = $74,200 (31.8%)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99632" y="26883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Footwear = $36,093 (15.5%)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99632" y="29352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Outerwear = $18,524 (7.9%)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99632" y="34290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Business Implication: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199632" y="36758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Clothing and Accessories together make up 76.5% of all revenue. Footwear and Outerwear are under-performing and may need promotional support or product range expansion.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Chart 2 – Gender vs. Total Spending (Bar Chart)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713232"/>
          <a:ext cx="56692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713232"/>
            <a:ext cx="2834640" cy="402336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777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Chart Insights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99632" y="120700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What it Shows: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99632" y="1449324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Horizontal bar comparison of total revenue contributed by male vs. female shoppers.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99632" y="1933956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Key Findings: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99632" y="2176272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Male: $157,890 (67.7% of total)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99632" y="241858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Female: $75,191 (32.3% of total)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99632" y="2660904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Gender revenue gap: $82,699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99632" y="290322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Male transactions: 2,652 (68%)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99632" y="3145536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Female transactions: 1,248 (32%)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199632" y="363016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Business Implication: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99632" y="3872484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The revenue gap mirrors the transaction count gap, suggesting similar average spend per visit. Closing the gap requires attracting more female customers, not necessarily increasing their spend per visit.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Chart 4 – Marketing Impact: Discount vs Full Price (Pie Chart)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713232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713232"/>
            <a:ext cx="2834640" cy="402336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777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🥧 Chart Insights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99632" y="120700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What it Shows: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99632" y="1449324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Proportion of total revenue from full-price vs. discounted transactions.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99632" y="1933956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Key Findings: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99632" y="2176272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Full Price: $133,670 (57.4%)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99632" y="241858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Discounted: $99,411 (42.6%)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99632" y="2660904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2,223 full-price transactions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99632" y="290322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1,677 discounted transactions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99632" y="3387852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Business Implication: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217920" y="3877056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Strong full-price demand signals healthy brand value. However, 43% discount dependency is high. Reducing discounts by 10% could recover ~$10K in margin without major volume loss.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Chart 5 – Category Revenue Share (Pie Chart)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713232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713232"/>
            <a:ext cx="2834640" cy="4023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777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39BD3"/>
                </a:solidFill>
              </a:rPr>
              <a:t>🥧 Chart Insights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99632" y="120700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What it Shows: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99632" y="1449324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Revenue share breakdown across all four product categories.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99632" y="1933956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Key Findings: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99632" y="2176272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Clothing: 44.7% of revenue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99632" y="241858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Accessories: 31.8% of revenue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99632" y="2660904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Footwear: 15.5% of revenue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99632" y="290322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Outerwear: 7.9% of revenue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99632" y="3145536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Top 2 = 76.5% of all revenue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199632" y="363016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Business Implication: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99632" y="411480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Over-concentration in Clothing/Accessories creates revenue risk. Expanding the Footwear range and seasonal Outerwear campaigns could diversify and grow the revenue base.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Chart 6 – Purchase Amount vs Age Group (Scatter / Distribution)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713232"/>
          <a:ext cx="56692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713232"/>
            <a:ext cx="2834640" cy="402336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777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🔵 Chart Insights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99632" y="120700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What it Shows: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99632" y="1449324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Average spend per transaction across four age bands.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99632" y="1933956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Key Findings: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99632" y="2176272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18–25: Avg $59.2 per transaction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99632" y="241858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26–35: Avg $60.1 (highest)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99632" y="2660904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36–50: Avg $59.9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99632" y="290322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51–70: Avg $59.7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99632" y="3145536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Variance across groups: &lt; $1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199632" y="363016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Business Implication: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99632" y="4113745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Age has virtually no impact on per-transaction spend. All demographics spend consistently around $60. Volume (number of visits/purchases) is the key lever — not per-visit upselling.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Chart 7 – Trend &amp; Comparative Analysis: Revenue by Category &amp; Season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713232"/>
          <a:ext cx="8595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0A26"/>
                </a:solidFill>
              </a:rPr>
              <a:t>Clothing dominates revenue in every season — consistently 44–46% of seasonal totals.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0A26"/>
                </a:solidFill>
              </a:rPr>
              <a:t>Fall shows the strongest overall performance driven by slight upticks across all categories.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0A26"/>
                </a:solidFill>
              </a:rPr>
              <a:t>Outerwear peaks in Fall/Winter as expected — seasonal inventory planning should reflect this.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0A26"/>
                </a:solidFill>
              </a:rPr>
              <a:t>Summer is the weakest season across all categories — a targeted summer campaign is recommended.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Chart 8 – Payment Method Comparative Analysis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713232"/>
          <a:ext cx="56692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713232"/>
            <a:ext cx="2834640" cy="4023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777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39BD3"/>
                </a:solidFill>
              </a:rPr>
              <a:t>📊 Chart Insights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99632" y="12070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What it Shows: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99632" y="143103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Transaction count per payment method across all customers.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99632" y="187909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Key Findings: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99632" y="21031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PayPal: 677 transactions (most)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99632" y="23271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Credit Card: 671 transactions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99632" y="25511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Cash: 670 transactions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99632" y="27752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Debit Card: 636 transactions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99632" y="29992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Venmo: 634 transactions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199632" y="32232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Bank Transfer: 612 (fewest)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99632" y="344728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Spread: only 65 transactions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99632" y="38953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9BD3"/>
                </a:solidFill>
              </a:rPr>
              <a:t>Business Implication: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199632" y="41193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All payment methods are remarkably balanced. Customer base is highly diverse in payment preference — all channels must be maintained. No single payment mode dominates.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 Overview – Customer Shopping Behavior</a:t>
            </a:r>
            <a:endParaRPr lang="en-US" sz="2000" dirty="0"/>
          </a:p>
        </p:txBody>
      </p:sp>
      <p:pic>
        <p:nvPicPr>
          <p:cNvPr id="7" name="Image 0" descr="/mnt/user-data/uploads/Customer_Shopping_Behavio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490407"/>
            <a:ext cx="8595360" cy="45720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490407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235A"/>
                </a:solidFill>
              </a:rPr>
              <a:t>The dashboard presents 4 key visualizations: Marketing Performance (Discount Split) | Sales Seasonal Analysis (4-Season Revenue) | Gender vs Spending | Sales Analysis (Category Revenue)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 – KPIs, Charts &amp; Layout Explanation</a:t>
            </a:r>
            <a:endParaRPr lang="en-US" sz="2000" dirty="0"/>
          </a:p>
        </p:txBody>
      </p:sp>
      <p:pic>
        <p:nvPicPr>
          <p:cNvPr id="7" name="Image 0" descr="/mnt/user-data/uploads/Customer_Shopping_Behavio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502920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713232"/>
            <a:ext cx="3429000" cy="237744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777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39BD3"/>
                </a:solidFill>
              </a:rPr>
              <a:t>Dashboard Layout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77840" y="11704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▸  Top-Left: Marketing Performance bar chart showing revenue split between discounted ($99K) and full-price ($133K) sales.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16276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▸  Top-Right: Seasonal Analysis bar chart comparing revenue across Summer, Winter, Spring, and Fall.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20848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▸  Bottom-Left: Gender vs Spending horizontal bar comparing male ($157K) and female ($75K) revenue.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577840" y="25420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▸  Bottom-Right: Sales Analysis bar chart ranking all 4 categories by revenue.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74320" y="3443067"/>
            <a:ext cx="4160520" cy="685800"/>
          </a:xfrm>
          <a:prstGeom prst="rect">
            <a:avLst/>
          </a:prstGeom>
          <a:solidFill>
            <a:srgbClr val="7B3F8C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3497931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39BD3"/>
                </a:solidFill>
              </a:rPr>
              <a:t>Total Revenue KPI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017520" y="3497931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$233,081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4048" y="3790539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Sum of all Purchase Amounts across 3,900 records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709160" y="3443067"/>
            <a:ext cx="4160520" cy="68580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18888" y="3497931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35A"/>
                </a:solidFill>
              </a:rPr>
              <a:t>Top Category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452360" y="3497931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235A"/>
                </a:solidFill>
              </a:rPr>
              <a:t>Clothing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18888" y="3790539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$104,264 — 44.7% of total revenue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74320" y="4220307"/>
            <a:ext cx="4160520" cy="685800"/>
          </a:xfrm>
          <a:prstGeom prst="rect">
            <a:avLst/>
          </a:prstGeom>
          <a:solidFill>
            <a:srgbClr val="7B3F8C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4275171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39BD3"/>
                </a:solidFill>
              </a:rPr>
              <a:t>Top Gender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017520" y="4275171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Male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84048" y="4567779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$157,890 — 67.7% of total revenue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709160" y="4220307"/>
            <a:ext cx="4160520" cy="68580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18888" y="4275171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35A"/>
                </a:solidFill>
              </a:rPr>
              <a:t>Peak Season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452360" y="4275171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235A"/>
                </a:solidFill>
              </a:rPr>
              <a:t>Fall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18888" y="4567779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$60,018 — highest seasonal revenue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 – Filters &amp; How to Use It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" y="1171135"/>
            <a:ext cx="2011680" cy="1325880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24428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🔽  Season Filter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1582615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Select one or multiple seasons (Summer / Winter / Spring / Fall) to drill into seasonal revenue performance and compare category-level trends.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468880" y="1171135"/>
            <a:ext cx="2011680" cy="1325880"/>
          </a:xfrm>
          <a:prstGeom prst="rect">
            <a:avLst/>
          </a:prstGeom>
          <a:solidFill>
            <a:srgbClr val="7B3F8C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0" y="124428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🔽  Gender Filter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0" y="1582615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Toggle between Male, Female, or both to isolate gender-specific purchasing patterns across all four chart panels simultaneously.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0040" y="2634175"/>
            <a:ext cx="2011680" cy="1325880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270732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🔽  Category Filter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11480" y="3045655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Select Clothing, Accessories, Footwear, or Outerwear to focus the analysis on specific product categories and their seasonal/discount behavior.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468880" y="2634175"/>
            <a:ext cx="2011680" cy="1325880"/>
          </a:xfrm>
          <a:prstGeom prst="rect">
            <a:avLst/>
          </a:prstGeom>
          <a:solidFill>
            <a:srgbClr val="7B3F8C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60320" y="270732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🔽  Discount Filter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60320" y="3045655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Compare full-price vs. discount-driven revenue across any segment — reveals true price sensitivity for each gender or category combination.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0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Insights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743200" cy="1920240"/>
          </a:xfrm>
          <a:prstGeom prst="rect">
            <a:avLst/>
          </a:prstGeom>
          <a:solidFill>
            <a:srgbClr val="7B3F8C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749808"/>
            <a:ext cx="2743200" cy="365760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86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01  Male Shoppers Drive Revenue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1887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Male customers account for 67.7% of total revenue ($157,890). With 2,652 transactions vs. 1,248 female, the business skews heavily male — volume, not spend per visit, is the gap driver.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36392" y="749808"/>
            <a:ext cx="2743200" cy="1920240"/>
          </a:xfrm>
          <a:prstGeom prst="rect">
            <a:avLst/>
          </a:prstGeom>
          <a:solidFill>
            <a:srgbClr val="7B3F8C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749808"/>
            <a:ext cx="2743200" cy="365760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786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02  Clothing &amp; Accessories = Core Business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27832" y="11887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Together accounting for 76.5% of all revenue ($178,464). These two categories are the brand's backbone. Diversification into Footwear/Outerwear is a growth lever.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44184" y="749808"/>
            <a:ext cx="2743200" cy="1920240"/>
          </a:xfrm>
          <a:prstGeom prst="rect">
            <a:avLst/>
          </a:prstGeom>
          <a:solidFill>
            <a:srgbClr val="7B3F8C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44184" y="749808"/>
            <a:ext cx="2743200" cy="365760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786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03  Strong Full-Price Brand Positioning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35624" y="11887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57.4% of revenue comes from full-price purchases ($133,670). Customers regularly buy without needing a discount — a sign of strong perceived brand value.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852928"/>
            <a:ext cx="2743200" cy="1920240"/>
          </a:xfrm>
          <a:prstGeom prst="rect">
            <a:avLst/>
          </a:prstGeom>
          <a:solidFill>
            <a:srgbClr val="7B3F8C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852928"/>
            <a:ext cx="2743200" cy="365760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895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04  Negligible Seasonal Variation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329184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Revenue variance across seasons is only 7.6% ($55,777–$60,018). This is a competitive strength — the business is not reliant on any single peak period.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36392" y="2852928"/>
            <a:ext cx="2743200" cy="1920240"/>
          </a:xfrm>
          <a:prstGeom prst="rect">
            <a:avLst/>
          </a:prstGeom>
          <a:solidFill>
            <a:srgbClr val="7B3F8C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36392" y="2852928"/>
            <a:ext cx="2743200" cy="365760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27832" y="28895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05  Extremely Loyal Customer Base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27832" y="329184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Average of 25.4 previous purchases per customer, with a max of 50. High repeat rates signal strong retention. Subscription programs could further lock in this loyalty.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44184" y="2852928"/>
            <a:ext cx="2743200" cy="1920240"/>
          </a:xfrm>
          <a:prstGeom prst="rect">
            <a:avLst/>
          </a:prstGeom>
          <a:solidFill>
            <a:srgbClr val="7B3F8C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44184" y="2852928"/>
            <a:ext cx="2743200" cy="365760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35624" y="28895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06  Uniform Payment Diversity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35624" y="329184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All 6 payment methods are used almost equally (612–677 transactions each). The brand serves a highly diverse customer base — maintaining all payment options is essential.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Strategic Recommendations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4160520" cy="1353312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56432" y="822960"/>
            <a:ext cx="89611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8229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👩‍🛍️  1. Target Female Customer Growth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188720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Launch female-focused marketing campaigns: influencer partnerships, curated female clothing lines, and loyalty rewards for female shoppers. Goal: increase female revenue share from 32% to 40% within 12 months.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90872" y="749808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91272" y="822960"/>
            <a:ext cx="89611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91272" y="8229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00600" y="822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🏷️  2. Optimize Discount Strategy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188720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Reduce blanket discounting. Introduce targeted discounts only for price-sensitive segments identified via purchase history. Replace mass discounts with personalized promo codes to protect margins.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212848"/>
            <a:ext cx="4160520" cy="1353312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6432" y="2286000"/>
            <a:ext cx="896112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28600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576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👟  3. Expand Footwear &amp; Outerwear Range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651760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Footwear (15.5%) and Outerwear (7.9%) are under-indexed. Expand SKUs, run seasonal campaigns for Outerwear in Fall/Winter, and bundle footwear with clothing for cross-category revenue lift.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90872" y="2212848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91272" y="2286000"/>
            <a:ext cx="896112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91272" y="228600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0060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☀️  4. Summer Revenue Boost Campaign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651760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Summer has the lowest revenue ($55,777). Launch a dedicated summer campaign with seasonal clothing lines, limited-time offers, and summer loyalty points to close the $4,241 gap with Fall peak.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3675888"/>
            <a:ext cx="4160520" cy="1353312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56432" y="3749040"/>
            <a:ext cx="896112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374904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576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🔔  5. Scale Subscription Program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114800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With 25+ avg previous purchases, the customer base is highly loyal. Expand the subscription program with tiered benefits (free shipping, early access, exclusive discounts) to lock in repeat buyers.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90872" y="3675888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91272" y="3749040"/>
            <a:ext cx="896112" cy="256032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74904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0060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📱  6. Digital &amp; Mobile Payment Push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4114800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PayPal and Venmo are the top payment methods — invest in seamless mobile checkout UX. A faster checkout experience can increase conversion rates and reduce cart abandonment.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0A26"/>
          </a:solidFill>
          <a:ln w="12700">
            <a:solidFill>
              <a:srgbClr val="1A0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 &amp; Summary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39BD3"/>
                </a:solidFill>
              </a:rPr>
              <a:t>Summary of Findings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This analysis of 3,900 customer transactions reveals a business with strong revenue fundamentals ($233,081 total) and a highly loyal repeat-purchase customer base.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0078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The brand's core strength lies in Clothing and Accessories — categories that consistently drive 76.5% of revenue across all seasons.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Male shoppers are the dominant revenue segment (68%), presenting both a concentration risk and a clear opportunity to grow the underserved female segment.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724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The business maintains strong full-price demand (57.4%), suggesting healthy brand equity — though discount dependency at 43% warrants strategic review.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23697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Seasonal stability is a competitive advantage, but the Summer underperformance represents a specific, actionable growth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Future Scope &amp; Further Analysis Opportunities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743200" cy="2011680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41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🤖  Predictive Revenue Modeling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225296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Build machine learning models (Random Forest, XGBoost) to predict future purchase amounts based on customer demographics, history, and seasonal patterns. Enable proactive inventory planning.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36392" y="749808"/>
            <a:ext cx="2743200" cy="2011680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841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👤  Customer Lifetime Value (CLV)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27832" y="1225296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Calculate CLV segments using purchase frequency and average spend. Identify high-value customers for VIP programs and at-risk customers for retention campaigns.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44184" y="749808"/>
            <a:ext cx="2743200" cy="2011680"/>
          </a:xfrm>
          <a:prstGeom prst="rect">
            <a:avLst/>
          </a:prstGeom>
          <a:solidFill>
            <a:srgbClr val="4A235A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5624" y="841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39BD3"/>
                </a:solidFill>
              </a:rPr>
              <a:t>🗺️  Geographic Expansion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35624" y="1225296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Leverage the Location (US State) column to identify underperforming states, map regional preferences, and optimize marketing spend geographically for maximum ROI.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2898648"/>
            <a:ext cx="2743200" cy="201168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90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💬  Sentiment Analysis on Reviews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374136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Apply NLP to review data (if text available) to identify product-level satisfaction drivers. Correlate review ratings with categories, sizes, and colors to guide product decisions.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36392" y="2898648"/>
            <a:ext cx="2743200" cy="201168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2990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🔄  Churn Prediction 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27832" y="3374136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Use purchase frequency patterns to build a churn risk model. Flag customers whose purchase cadence is declining and trigger automated re-engagement campaigns.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44184" y="2898648"/>
            <a:ext cx="2743200" cy="2011680"/>
          </a:xfrm>
          <a:prstGeom prst="rect">
            <a:avLst/>
          </a:prstGeom>
          <a:solidFill>
            <a:srgbClr val="F3EAF7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5624" y="2990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</a:rPr>
              <a:t>📦  Market Basket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35624" y="3374136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A26"/>
                </a:solidFill>
              </a:rPr>
              <a:t>Implement association rule mining (Apriori algorithm) to identify which product categories are frequently purchased together — enabling cross-sell bundling strategies.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3981</Words>
  <Application>Microsoft Office PowerPoint</Application>
  <PresentationFormat>On-screen Show (16:9)</PresentationFormat>
  <Paragraphs>499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Senior Data Analyst</dc:creator>
  <cp:lastModifiedBy>shekhawatsoumya2@gmail.com</cp:lastModifiedBy>
  <cp:revision>1</cp:revision>
  <dcterms:created xsi:type="dcterms:W3CDTF">2026-03-18T09:43:11Z</dcterms:created>
  <dcterms:modified xsi:type="dcterms:W3CDTF">2026-03-19T12:24:30Z</dcterms:modified>
</cp:coreProperties>
</file>